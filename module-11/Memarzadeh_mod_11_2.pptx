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32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58381" y="2122408"/>
            <a:ext cx="7620000" cy="89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8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Security Controls in Shared Source Code Repositories</a:t>
            </a:r>
            <a:endParaRPr lang="en-US" sz="2783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86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Why Security in Shared Repositories Matters</a:t>
            </a:r>
            <a:endParaRPr lang="en-US" sz="1586" dirty="0"/>
          </a:p>
        </p:txBody>
      </p:sp>
      <p:sp>
        <p:nvSpPr>
          <p:cNvPr id="4" name="Subtitle 1"/>
          <p:cNvSpPr/>
          <p:nvPr/>
        </p:nvSpPr>
        <p:spPr>
          <a:xfrm>
            <a:off x="665798" y="49358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Collaboration Meets Risk</a:t>
            </a:r>
            <a:endParaRPr lang="en-US" sz="1345" dirty="0"/>
          </a:p>
        </p:txBody>
      </p:sp>
      <p:sp>
        <p:nvSpPr>
          <p:cNvPr id="5" name="Paragraph 1"/>
          <p:cNvSpPr/>
          <p:nvPr/>
        </p:nvSpPr>
        <p:spPr>
          <a:xfrm>
            <a:off x="665798" y="87458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Shared repositories like GitHub or GitLab foster collaboration and version control but expose systems to cyber threats.</a:t>
            </a:r>
            <a:endParaRPr lang="en-US" sz="1345" dirty="0"/>
          </a:p>
        </p:txBody>
      </p:sp>
      <p:sp>
        <p:nvSpPr>
          <p:cNvPr id="6" name="Subtitle 2"/>
          <p:cNvSpPr/>
          <p:nvPr/>
        </p:nvSpPr>
        <p:spPr>
          <a:xfrm>
            <a:off x="665798" y="182708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Rising Threat Landscape</a:t>
            </a:r>
            <a:endParaRPr lang="en-US" sz="1345" dirty="0"/>
          </a:p>
        </p:txBody>
      </p:sp>
      <p:sp>
        <p:nvSpPr>
          <p:cNvPr id="7" name="Paragraph 2"/>
          <p:cNvSpPr/>
          <p:nvPr/>
        </p:nvSpPr>
        <p:spPr>
          <a:xfrm>
            <a:off x="665798" y="220808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Supply chain attacks, credential leaks, and malicious injections have surged—up by hundreds of percent yearly (Assembla, 2025).</a:t>
            </a:r>
            <a:endParaRPr lang="en-US" sz="1345" dirty="0"/>
          </a:p>
        </p:txBody>
      </p:sp>
      <p:sp>
        <p:nvSpPr>
          <p:cNvPr id="8" name="Subtitle 3"/>
          <p:cNvSpPr/>
          <p:nvPr/>
        </p:nvSpPr>
        <p:spPr>
          <a:xfrm>
            <a:off x="665798" y="292245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Security is Essential</a:t>
            </a:r>
            <a:endParaRPr lang="en-US" sz="1345" dirty="0"/>
          </a:p>
        </p:txBody>
      </p:sp>
      <p:sp>
        <p:nvSpPr>
          <p:cNvPr id="9" name="Paragraph 3"/>
          <p:cNvSpPr/>
          <p:nvPr/>
        </p:nvSpPr>
        <p:spPr>
          <a:xfrm>
            <a:off x="665798" y="330345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Implementing layered controls is crucial to safeguard code integrity and protect sensitive assets in repositories.</a:t>
            </a:r>
            <a:endParaRPr lang="en-US" sz="1345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E7CE0-24EB-229B-F3BC-4315FCDD1C16}"/>
              </a:ext>
            </a:extLst>
          </p:cNvPr>
          <p:cNvSpPr txBox="1"/>
          <p:nvPr/>
        </p:nvSpPr>
        <p:spPr>
          <a:xfrm>
            <a:off x="527209" y="4820675"/>
            <a:ext cx="5280284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45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Assembla</a:t>
            </a:r>
            <a:r>
              <a:rPr lang="en-US" sz="134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38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Access Controls &amp; Authentication</a:t>
            </a:r>
            <a:endParaRPr lang="en-US" sz="1838" dirty="0"/>
          </a:p>
        </p:txBody>
      </p:sp>
      <p:sp>
        <p:nvSpPr>
          <p:cNvPr id="4" name="Subtitle 1"/>
          <p:cNvSpPr/>
          <p:nvPr/>
        </p:nvSpPr>
        <p:spPr>
          <a:xfrm>
            <a:off x="665798" y="42612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3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Limit User Privileges</a:t>
            </a:r>
            <a:endParaRPr lang="en-US" sz="1336" dirty="0"/>
          </a:p>
        </p:txBody>
      </p:sp>
      <p:sp>
        <p:nvSpPr>
          <p:cNvPr id="5" name="Paragraph 1"/>
          <p:cNvSpPr/>
          <p:nvPr/>
        </p:nvSpPr>
        <p:spPr>
          <a:xfrm>
            <a:off x="665798" y="80712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Role-Based Access Control (RBAC) ensures users only access what's necessary, reducing the risk of accidental or malicious changes.</a:t>
            </a:r>
            <a:endParaRPr lang="en-US" sz="1344" dirty="0"/>
          </a:p>
        </p:txBody>
      </p:sp>
      <p:sp>
        <p:nvSpPr>
          <p:cNvPr id="6" name="Subtitle 2"/>
          <p:cNvSpPr/>
          <p:nvPr/>
        </p:nvSpPr>
        <p:spPr>
          <a:xfrm>
            <a:off x="665798" y="175962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3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Strengthen Authentication</a:t>
            </a:r>
            <a:endParaRPr lang="en-US" sz="1336" dirty="0"/>
          </a:p>
        </p:txBody>
      </p:sp>
      <p:sp>
        <p:nvSpPr>
          <p:cNvPr id="7" name="Paragraph 2"/>
          <p:cNvSpPr/>
          <p:nvPr/>
        </p:nvSpPr>
        <p:spPr>
          <a:xfrm>
            <a:off x="665798" y="2140627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2FA or MFA across all developer accounts, especially for remote teams, to protect against account takeovers.</a:t>
            </a:r>
            <a:endParaRPr lang="en-US" sz="1344" dirty="0"/>
          </a:p>
        </p:txBody>
      </p:sp>
      <p:sp>
        <p:nvSpPr>
          <p:cNvPr id="8" name="Subtitle 3"/>
          <p:cNvSpPr/>
          <p:nvPr/>
        </p:nvSpPr>
        <p:spPr>
          <a:xfrm>
            <a:off x="665798" y="285500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3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Platform-Level Controls</a:t>
            </a:r>
            <a:endParaRPr lang="en-US" sz="1336" dirty="0"/>
          </a:p>
        </p:txBody>
      </p:sp>
      <p:sp>
        <p:nvSpPr>
          <p:cNvPr id="9" name="Paragraph 3"/>
          <p:cNvSpPr/>
          <p:nvPr/>
        </p:nvSpPr>
        <p:spPr>
          <a:xfrm>
            <a:off x="665798" y="3236002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Choose platforms with strong permission logging like GitHub or GitLab to monitor and control access effectively.</a:t>
            </a:r>
            <a:endParaRPr lang="en-US" sz="1344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E734B2-9603-4C5C-952D-5D3B075397F7}"/>
              </a:ext>
            </a:extLst>
          </p:cNvPr>
          <p:cNvSpPr txBox="1"/>
          <p:nvPr/>
        </p:nvSpPr>
        <p:spPr>
          <a:xfrm>
            <a:off x="527209" y="4844316"/>
            <a:ext cx="5280284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Digital Guardian, 2024; </a:t>
            </a:r>
            <a:r>
              <a:rPr lang="en-US" sz="1344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Assembla</a:t>
            </a:r>
            <a:r>
              <a:rPr lang="en-US" sz="13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Repository Security Settings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665798" y="3571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Enforce Branch Protections</a:t>
            </a:r>
            <a:endParaRPr lang="en-US" sz="1361" dirty="0"/>
          </a:p>
        </p:txBody>
      </p:sp>
      <p:sp>
        <p:nvSpPr>
          <p:cNvPr id="5" name="Paragraph 1"/>
          <p:cNvSpPr/>
          <p:nvPr/>
        </p:nvSpPr>
        <p:spPr>
          <a:xfrm>
            <a:off x="665798" y="7381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Enable branch protection to stop unauthorized or unreviewed changes to key branches like 'main' or 'master'.</a:t>
            </a:r>
            <a:endParaRPr lang="en-US" sz="1365" dirty="0"/>
          </a:p>
        </p:txBody>
      </p:sp>
      <p:sp>
        <p:nvSpPr>
          <p:cNvPr id="6" name="Subtitle 2"/>
          <p:cNvSpPr/>
          <p:nvPr/>
        </p:nvSpPr>
        <p:spPr>
          <a:xfrm>
            <a:off x="665798" y="16906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Verify Code Origins</a:t>
            </a:r>
            <a:endParaRPr lang="en-US" sz="1361" dirty="0"/>
          </a:p>
        </p:txBody>
      </p:sp>
      <p:sp>
        <p:nvSpPr>
          <p:cNvPr id="7" name="Paragraph 2"/>
          <p:cNvSpPr/>
          <p:nvPr/>
        </p:nvSpPr>
        <p:spPr>
          <a:xfrm>
            <a:off x="665798" y="20716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Signed commits and releases confirm authorship and integrity, making it harder for attackers to inject malicious code.</a:t>
            </a:r>
            <a:endParaRPr lang="en-US" sz="1365" dirty="0"/>
          </a:p>
        </p:txBody>
      </p:sp>
      <p:sp>
        <p:nvSpPr>
          <p:cNvPr id="8" name="Subtitle 3"/>
          <p:cNvSpPr/>
          <p:nvPr/>
        </p:nvSpPr>
        <p:spPr>
          <a:xfrm>
            <a:off x="665798" y="278606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Avoid Binary Artifacts</a:t>
            </a:r>
            <a:endParaRPr lang="en-US" sz="1361" dirty="0"/>
          </a:p>
        </p:txBody>
      </p:sp>
      <p:sp>
        <p:nvSpPr>
          <p:cNvPr id="9" name="Paragraph 3"/>
          <p:cNvSpPr/>
          <p:nvPr/>
        </p:nvSpPr>
        <p:spPr>
          <a:xfrm>
            <a:off x="665798" y="316706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Restrict binaries in repos to prevent hidden malware and ensure code is easily auditable.</a:t>
            </a:r>
            <a:endParaRPr lang="en-US" sz="1365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D4A190-AA1A-8C09-F566-8929AC666EE3}"/>
              </a:ext>
            </a:extLst>
          </p:cNvPr>
          <p:cNvSpPr txBox="1"/>
          <p:nvPr/>
        </p:nvSpPr>
        <p:spPr>
          <a:xfrm>
            <a:off x="527209" y="4787517"/>
            <a:ext cx="5280284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65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Checkmarx</a:t>
            </a:r>
            <a:r>
              <a:rPr lang="en-US" sz="1365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99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Secret Management &amp; Encryption</a:t>
            </a:r>
            <a:endParaRPr lang="en-US" sz="1899" dirty="0"/>
          </a:p>
        </p:txBody>
      </p:sp>
      <p:sp>
        <p:nvSpPr>
          <p:cNvPr id="4" name="Subtitle 1"/>
          <p:cNvSpPr/>
          <p:nvPr/>
        </p:nvSpPr>
        <p:spPr>
          <a:xfrm>
            <a:off x="665798" y="306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Never Store Secrets in Repos</a:t>
            </a:r>
            <a:endParaRPr lang="en-US" sz="1274" dirty="0"/>
          </a:p>
        </p:txBody>
      </p:sp>
      <p:sp>
        <p:nvSpPr>
          <p:cNvPr id="5" name="Paragraph 1"/>
          <p:cNvSpPr/>
          <p:nvPr/>
        </p:nvSpPr>
        <p:spPr>
          <a:xfrm>
            <a:off x="665798" y="687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Avoid committing credentials, tokens, or config files directly into version control systems.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665798" y="1640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Use Secret Scanning Tools</a:t>
            </a:r>
            <a:endParaRPr lang="en-US" sz="1274" dirty="0"/>
          </a:p>
        </p:txBody>
      </p:sp>
      <p:sp>
        <p:nvSpPr>
          <p:cNvPr id="7" name="Paragraph 2"/>
          <p:cNvSpPr/>
          <p:nvPr/>
        </p:nvSpPr>
        <p:spPr>
          <a:xfrm>
            <a:off x="665798" y="2021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Deploy scanners like TruffleHog or Git-Secrets to detect sensitive information before it becomes a liability.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665798" y="2735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Encrypt Data Everywhere</a:t>
            </a:r>
            <a:endParaRPr lang="en-US" sz="1274" dirty="0"/>
          </a:p>
        </p:txBody>
      </p:sp>
      <p:sp>
        <p:nvSpPr>
          <p:cNvPr id="9" name="Paragraph 3"/>
          <p:cNvSpPr/>
          <p:nvPr/>
        </p:nvSpPr>
        <p:spPr>
          <a:xfrm>
            <a:off x="665798" y="3116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Ensure encryption in transit and at rest using SSL/TLS and AES-256 across platforms like GitHub or Assembla.</a:t>
            </a:r>
            <a:endParaRPr lang="en-US" sz="1367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C848F-2D1E-59BB-3110-6D7D86B335E3}"/>
              </a:ext>
            </a:extLst>
          </p:cNvPr>
          <p:cNvSpPr txBox="1"/>
          <p:nvPr/>
        </p:nvSpPr>
        <p:spPr>
          <a:xfrm>
            <a:off x="527209" y="4836795"/>
            <a:ext cx="5280284" cy="30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Encryption Consulting, 2024; </a:t>
            </a:r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Assembla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68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Dependency &amp; Package Management</a:t>
            </a:r>
            <a:endParaRPr lang="en-US" sz="1868" dirty="0"/>
          </a:p>
        </p:txBody>
      </p:sp>
      <p:sp>
        <p:nvSpPr>
          <p:cNvPr id="4" name="Subtitle 1"/>
          <p:cNvSpPr/>
          <p:nvPr/>
        </p:nvSpPr>
        <p:spPr>
          <a:xfrm>
            <a:off x="665798" y="3571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Pin and Monitor Dependencies</a:t>
            </a:r>
            <a:endParaRPr lang="en-US" sz="1230" dirty="0"/>
          </a:p>
        </p:txBody>
      </p:sp>
      <p:sp>
        <p:nvSpPr>
          <p:cNvPr id="5" name="Paragraph 1"/>
          <p:cNvSpPr/>
          <p:nvPr/>
        </p:nvSpPr>
        <p:spPr>
          <a:xfrm>
            <a:off x="665798" y="7381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Always pin package versions to avoid dependency confusion and unexpected updates.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665798" y="16906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Use Maintained Packages</a:t>
            </a:r>
            <a:endParaRPr lang="en-US" sz="1230" dirty="0"/>
          </a:p>
        </p:txBody>
      </p:sp>
      <p:sp>
        <p:nvSpPr>
          <p:cNvPr id="7" name="Paragraph 2"/>
          <p:cNvSpPr/>
          <p:nvPr/>
        </p:nvSpPr>
        <p:spPr>
          <a:xfrm>
            <a:off x="665798" y="2071688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Avoid using outdated libraries—unmaintained packages are often vulnerable to known exploits.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665798" y="278606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Automate Vulnerability Scanning</a:t>
            </a:r>
            <a:endParaRPr lang="en-US" sz="1230" dirty="0"/>
          </a:p>
        </p:txBody>
      </p:sp>
      <p:sp>
        <p:nvSpPr>
          <p:cNvPr id="9" name="Paragraph 3"/>
          <p:cNvSpPr/>
          <p:nvPr/>
        </p:nvSpPr>
        <p:spPr>
          <a:xfrm>
            <a:off x="665798" y="3167063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Leverage SCA tools like Checkmarx and SonarQube to inspect third-party dependencies for threats.</a:t>
            </a:r>
            <a:endParaRPr lang="en-US" sz="1367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C15862-3137-E8E2-7EBB-C08B27CE194F}"/>
              </a:ext>
            </a:extLst>
          </p:cNvPr>
          <p:cNvSpPr txBox="1"/>
          <p:nvPr/>
        </p:nvSpPr>
        <p:spPr>
          <a:xfrm>
            <a:off x="427673" y="4754046"/>
            <a:ext cx="5280284" cy="30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Checkmarx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2025; Digital Guardian,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CI/CD Pipeline Security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665798" y="306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Integrate Security Early</a:t>
            </a:r>
            <a:endParaRPr lang="en-US" sz="1401" dirty="0"/>
          </a:p>
        </p:txBody>
      </p:sp>
      <p:sp>
        <p:nvSpPr>
          <p:cNvPr id="5" name="Paragraph 1"/>
          <p:cNvSpPr/>
          <p:nvPr/>
        </p:nvSpPr>
        <p:spPr>
          <a:xfrm>
            <a:off x="665798" y="687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Embed Static and Dynamic Application Security Testing (SAST/DAST) in the CI/CD lifecycle to catch vulnerabilities faster.</a:t>
            </a:r>
            <a:endParaRPr lang="en-US" sz="1359" dirty="0"/>
          </a:p>
        </p:txBody>
      </p:sp>
      <p:sp>
        <p:nvSpPr>
          <p:cNvPr id="6" name="Subtitle 2"/>
          <p:cNvSpPr/>
          <p:nvPr/>
        </p:nvSpPr>
        <p:spPr>
          <a:xfrm>
            <a:off x="665798" y="1640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Use Safe Automation</a:t>
            </a:r>
            <a:endParaRPr lang="en-US" sz="1401" dirty="0"/>
          </a:p>
        </p:txBody>
      </p:sp>
      <p:sp>
        <p:nvSpPr>
          <p:cNvPr id="7" name="Paragraph 2"/>
          <p:cNvSpPr/>
          <p:nvPr/>
        </p:nvSpPr>
        <p:spPr>
          <a:xfrm>
            <a:off x="665798" y="2021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Avoid third-party GitHub Actions that are poorly reviewed or insecure in how they handle secrets.</a:t>
            </a:r>
            <a:endParaRPr lang="en-US" sz="1359" dirty="0"/>
          </a:p>
        </p:txBody>
      </p:sp>
      <p:sp>
        <p:nvSpPr>
          <p:cNvPr id="8" name="Subtitle 3"/>
          <p:cNvSpPr/>
          <p:nvPr/>
        </p:nvSpPr>
        <p:spPr>
          <a:xfrm>
            <a:off x="665798" y="2735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Go Beyond Unit Tests</a:t>
            </a:r>
            <a:endParaRPr lang="en-US" sz="1401" dirty="0"/>
          </a:p>
        </p:txBody>
      </p:sp>
      <p:sp>
        <p:nvSpPr>
          <p:cNvPr id="9" name="Paragraph 3"/>
          <p:cNvSpPr/>
          <p:nvPr/>
        </p:nvSpPr>
        <p:spPr>
          <a:xfrm>
            <a:off x="665798" y="3116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Add fuzz testing to catch hard-to-spot bugs and edge-case vulnerabilities before deployment.</a:t>
            </a:r>
            <a:endParaRPr lang="en-US" sz="1359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9A6545-0500-A117-D83C-66BD05E52121}"/>
              </a:ext>
            </a:extLst>
          </p:cNvPr>
          <p:cNvSpPr txBox="1"/>
          <p:nvPr/>
        </p:nvSpPr>
        <p:spPr>
          <a:xfrm>
            <a:off x="527209" y="4787965"/>
            <a:ext cx="3063980" cy="301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Digital Guardian, 2024; </a:t>
            </a:r>
            <a:r>
              <a:rPr lang="en-US" sz="1359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Checkmarx</a:t>
            </a:r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84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Security Policies &amp; Team Practices</a:t>
            </a:r>
            <a:endParaRPr lang="en-US" sz="1784" dirty="0"/>
          </a:p>
        </p:txBody>
      </p:sp>
      <p:sp>
        <p:nvSpPr>
          <p:cNvPr id="4" name="Subtitle 1"/>
          <p:cNvSpPr/>
          <p:nvPr/>
        </p:nvSpPr>
        <p:spPr>
          <a:xfrm>
            <a:off x="665798" y="306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Establish Clear Policies</a:t>
            </a:r>
            <a:endParaRPr lang="en-US" sz="1377" dirty="0"/>
          </a:p>
        </p:txBody>
      </p:sp>
      <p:sp>
        <p:nvSpPr>
          <p:cNvPr id="5" name="Paragraph 1"/>
          <p:cNvSpPr/>
          <p:nvPr/>
        </p:nvSpPr>
        <p:spPr>
          <a:xfrm>
            <a:off x="665798" y="687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Standardize code reviews, integrations, and secure development guidelines to ensure consistent protection.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665798" y="1640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Prepare for Incidents</a:t>
            </a:r>
            <a:endParaRPr lang="en-US" sz="1377" dirty="0"/>
          </a:p>
        </p:txBody>
      </p:sp>
      <p:sp>
        <p:nvSpPr>
          <p:cNvPr id="7" name="Paragraph 2"/>
          <p:cNvSpPr/>
          <p:nvPr/>
        </p:nvSpPr>
        <p:spPr>
          <a:xfrm>
            <a:off x="665798" y="2021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Document and rehearse incident response plans—detect, contain, notify, patch, and improve.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665798" y="2735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Train All Developers</a:t>
            </a:r>
            <a:endParaRPr lang="en-US" sz="1377" dirty="0"/>
          </a:p>
        </p:txBody>
      </p:sp>
      <p:sp>
        <p:nvSpPr>
          <p:cNvPr id="9" name="Paragraph 3"/>
          <p:cNvSpPr/>
          <p:nvPr/>
        </p:nvSpPr>
        <p:spPr>
          <a:xfrm>
            <a:off x="665798" y="3116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Ensure all team members, especially remote ones, understand and follow secure repository usage practices.</a:t>
            </a:r>
            <a:endParaRPr lang="en-US" sz="1367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13FE6-B5F1-2E3B-0EB0-35AF738DDB80}"/>
              </a:ext>
            </a:extLst>
          </p:cNvPr>
          <p:cNvSpPr txBox="1"/>
          <p:nvPr/>
        </p:nvSpPr>
        <p:spPr>
          <a:xfrm>
            <a:off x="527209" y="4754046"/>
            <a:ext cx="5280284" cy="30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Assembla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84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Incident Preparedness &amp; Monitoring</a:t>
            </a:r>
            <a:endParaRPr lang="en-US" sz="1784" dirty="0"/>
          </a:p>
        </p:txBody>
      </p:sp>
      <p:sp>
        <p:nvSpPr>
          <p:cNvPr id="4" name="Subtitle 1"/>
          <p:cNvSpPr/>
          <p:nvPr/>
        </p:nvSpPr>
        <p:spPr>
          <a:xfrm>
            <a:off x="552450" y="306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1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Have a Clear Response Plan</a:t>
            </a:r>
            <a:endParaRPr lang="en-US" sz="1317" dirty="0"/>
          </a:p>
        </p:txBody>
      </p:sp>
      <p:sp>
        <p:nvSpPr>
          <p:cNvPr id="5" name="Paragraph 1"/>
          <p:cNvSpPr/>
          <p:nvPr/>
        </p:nvSpPr>
        <p:spPr>
          <a:xfrm>
            <a:off x="552450" y="6877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Prepare teams with predefined steps: detect, contain, notify, patch, and iterate on lessons learned.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552450" y="1640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1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Monitor Activity Constantly</a:t>
            </a:r>
            <a:endParaRPr lang="en-US" sz="1317" dirty="0"/>
          </a:p>
        </p:txBody>
      </p:sp>
      <p:sp>
        <p:nvSpPr>
          <p:cNvPr id="7" name="Paragraph 2"/>
          <p:cNvSpPr/>
          <p:nvPr/>
        </p:nvSpPr>
        <p:spPr>
          <a:xfrm>
            <a:off x="552450" y="202120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platform logs and behavioral analytics to detect suspicious activity early.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552450" y="2735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1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Use Real-Time Tools</a:t>
            </a:r>
            <a:endParaRPr lang="en-US" sz="1317" dirty="0"/>
          </a:p>
        </p:txBody>
      </p:sp>
      <p:sp>
        <p:nvSpPr>
          <p:cNvPr id="9" name="Paragraph 3"/>
          <p:cNvSpPr/>
          <p:nvPr/>
        </p:nvSpPr>
        <p:spPr>
          <a:xfrm>
            <a:off x="552450" y="311658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Implement tools that offer real-time monitoring and alerts to minimize breach damage.</a:t>
            </a:r>
            <a:endParaRPr lang="en-US" sz="1367" dirty="0"/>
          </a:p>
        </p:txBody>
      </p:sp>
      <p:pic>
        <p:nvPicPr>
          <p:cNvPr id="10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79B64-A42C-83DB-9DFA-6552DE9AB036}"/>
              </a:ext>
            </a:extLst>
          </p:cNvPr>
          <p:cNvSpPr txBox="1"/>
          <p:nvPr/>
        </p:nvSpPr>
        <p:spPr>
          <a:xfrm>
            <a:off x="552450" y="4783455"/>
            <a:ext cx="5280284" cy="302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67" dirty="0" err="1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Assembla</a:t>
            </a: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</a:rPr>
              <a:t>, 2025; Digital Guardian,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1719" cy="2321719"/>
          </a:xfrm>
          <a:prstGeom prst="rect">
            <a:avLst/>
          </a:prstGeom>
        </p:spPr>
      </p:pic>
      <p:sp>
        <p:nvSpPr>
          <p:cNvPr id="3" name="StaticPath"/>
          <p:cNvSpPr/>
          <p:nvPr/>
        </p:nvSpPr>
        <p:spPr>
          <a:xfrm>
            <a:off x="1905000" y="1547813"/>
            <a:ext cx="428625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"/>
          <p:cNvSpPr/>
          <p:nvPr/>
        </p:nvSpPr>
        <p:spPr>
          <a:xfrm>
            <a:off x="2095500" y="2143125"/>
            <a:ext cx="3905250" cy="1227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Securing shared source code repositories is essential to avoid threats like supply chain attacks, insider risks, and leaked secrets.</a:t>
            </a:r>
            <a:endParaRPr lang="en-US" sz="744" dirty="0"/>
          </a:p>
          <a:p>
            <a:pPr marL="0" indent="0" algn="l">
              <a:buNone/>
            </a:pPr>
            <a:endParaRPr lang="en-US" sz="744" dirty="0"/>
          </a:p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✅ Use MFA and RBAC</a:t>
            </a:r>
            <a:endParaRPr lang="en-US" sz="744" dirty="0"/>
          </a:p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✅ Scan for secrets before committing</a:t>
            </a:r>
            <a:endParaRPr lang="en-US" sz="744" dirty="0"/>
          </a:p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✅ Enforce signed commits and branch protections</a:t>
            </a:r>
            <a:endParaRPr lang="en-US" sz="744" dirty="0"/>
          </a:p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✅ Pin and scan dependencies</a:t>
            </a:r>
            <a:endParaRPr lang="en-US" sz="744" dirty="0"/>
          </a:p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✅ Secure your CI/CD pipeline</a:t>
            </a:r>
            <a:endParaRPr lang="en-US" sz="744" dirty="0"/>
          </a:p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✅ Train teams and maintain an incident response plan</a:t>
            </a:r>
            <a:endParaRPr lang="en-US" sz="744" dirty="0"/>
          </a:p>
          <a:p>
            <a:pPr marL="0" indent="0" algn="l">
              <a:buNone/>
            </a:pPr>
            <a:endParaRPr lang="en-US" sz="744" dirty="0"/>
          </a:p>
          <a:p>
            <a:pPr marL="0" indent="0" algn="l">
              <a:buNone/>
            </a:pPr>
            <a:r>
              <a:rPr lang="en-US" sz="74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🔐 Following layered security practices ensures your codebase—and business—remain protected.</a:t>
            </a:r>
            <a:endParaRPr lang="en-US" sz="744" dirty="0"/>
          </a:p>
        </p:txBody>
      </p:sp>
      <p:sp>
        <p:nvSpPr>
          <p:cNvPr id="5" name="Title"/>
          <p:cNvSpPr/>
          <p:nvPr/>
        </p:nvSpPr>
        <p:spPr>
          <a:xfrm>
            <a:off x="6349460" y="2089404"/>
            <a:ext cx="2427065" cy="3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Conclusion: Secure Repositories = Safer Software</a:t>
            </a:r>
            <a:endParaRPr lang="en-US" sz="1080" dirty="0"/>
          </a:p>
        </p:txBody>
      </p:sp>
      <p:sp>
        <p:nvSpPr>
          <p:cNvPr id="6" name="Subtitle"/>
          <p:cNvSpPr/>
          <p:nvPr/>
        </p:nvSpPr>
        <p:spPr>
          <a:xfrm>
            <a:off x="6670929" y="2645092"/>
            <a:ext cx="1896809" cy="409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6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Protect Code, Reputation, and Users</a:t>
            </a:r>
            <a:endParaRPr lang="en-US" sz="1267" dirty="0"/>
          </a:p>
        </p:txBody>
      </p:sp>
      <p:sp>
        <p:nvSpPr>
          <p:cNvPr id="7" name="StaticPath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icPath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aticPath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21719" cy="2321719"/>
          </a:xfrm>
          <a:prstGeom prst="rect">
            <a:avLst/>
          </a:prstGeom>
        </p:spPr>
      </p:pic>
      <p:sp>
        <p:nvSpPr>
          <p:cNvPr id="3" name="StaticPath"/>
          <p:cNvSpPr/>
          <p:nvPr/>
        </p:nvSpPr>
        <p:spPr>
          <a:xfrm>
            <a:off x="1905000" y="1547813"/>
            <a:ext cx="428625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"/>
          <p:cNvSpPr/>
          <p:nvPr/>
        </p:nvSpPr>
        <p:spPr>
          <a:xfrm>
            <a:off x="2095500" y="2143125"/>
            <a:ext cx="3905250" cy="1227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**Encryption Consulting (2024)**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Are Code Repositories Safe for Your Source Code?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https://www.encryptionconsulting.com/are-code-repositories-safe-for-your-source-code</a:t>
            </a:r>
            <a:endParaRPr lang="en-US" sz="577" dirty="0"/>
          </a:p>
          <a:p>
            <a:pPr marL="0" indent="0" algn="l">
              <a:buNone/>
            </a:pP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**Digital Guardian (2024)**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Source Code Security Best Practices to Protect Against Theft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https://www.digitalguardian.com/blog/source-code-security-best-practices-protect-against-theft</a:t>
            </a:r>
            <a:endParaRPr lang="en-US" sz="577" dirty="0"/>
          </a:p>
          <a:p>
            <a:pPr marL="0" indent="0" algn="l">
              <a:buNone/>
            </a:pP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**Assembla (2025)**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Source Code Security Best Practices: A Complete Guide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https://get.assembla.com/blog/source-code-security</a:t>
            </a:r>
            <a:endParaRPr lang="en-US" sz="577" dirty="0"/>
          </a:p>
          <a:p>
            <a:pPr marL="0" indent="0" algn="l">
              <a:buNone/>
            </a:pP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**Checkmarx (2025)**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Repository Health Monitoring Part 2: Essential Practices for Secure Repositories  </a:t>
            </a:r>
            <a:endParaRPr lang="en-US" sz="577" dirty="0"/>
          </a:p>
          <a:p>
            <a:pPr marL="0" indent="0" algn="l">
              <a:buNone/>
            </a:pPr>
            <a:r>
              <a:rPr lang="en-US" sz="57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🔗 https://checkmarx.com/supply-chain-security/repository-health-monitoring-part-2-essential-practices-for-secure-repositories</a:t>
            </a:r>
            <a:endParaRPr lang="en-US" sz="577" dirty="0"/>
          </a:p>
        </p:txBody>
      </p:sp>
      <p:sp>
        <p:nvSpPr>
          <p:cNvPr id="5" name="Title"/>
          <p:cNvSpPr/>
          <p:nvPr/>
        </p:nvSpPr>
        <p:spPr>
          <a:xfrm>
            <a:off x="6349460" y="2089404"/>
            <a:ext cx="2427065" cy="3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2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References – Source Code Repository Security</a:t>
            </a:r>
            <a:endParaRPr lang="en-US" sz="1128" dirty="0"/>
          </a:p>
        </p:txBody>
      </p:sp>
      <p:sp>
        <p:nvSpPr>
          <p:cNvPr id="6" name="Subtitle"/>
          <p:cNvSpPr/>
          <p:nvPr/>
        </p:nvSpPr>
        <p:spPr>
          <a:xfrm>
            <a:off x="6670929" y="2645092"/>
            <a:ext cx="1896809" cy="409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33" dirty="0"/>
          </a:p>
        </p:txBody>
      </p:sp>
      <p:sp>
        <p:nvSpPr>
          <p:cNvPr id="7" name="StaticPath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icPath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aticPath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786</Words>
  <Application>Microsoft Macintosh PowerPoint</Application>
  <PresentationFormat>On-screen Show (16:9)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OpenSans-Bold</vt:lpstr>
      <vt:lpstr>OpenSans-Regular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nima memarzadeh</cp:lastModifiedBy>
  <cp:revision>2</cp:revision>
  <dcterms:created xsi:type="dcterms:W3CDTF">2025-07-14T17:33:04Z</dcterms:created>
  <dcterms:modified xsi:type="dcterms:W3CDTF">2025-07-14T17:42:06Z</dcterms:modified>
</cp:coreProperties>
</file>