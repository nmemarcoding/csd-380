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736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46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hyperlink" Target="https://www.pagerduty.com/resources/incident-management-response/learn/call-rotations-schedule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lertops.com/on-call-rotation/" TargetMode="External"/><Relationship Id="rId5" Type="http://schemas.openxmlformats.org/officeDocument/2006/relationships/hyperlink" Target="https://medium.com/%40squadcast/on-call-rotation-a-complete-guide-to-best-practices-997b0da54499" TargetMode="External"/><Relationship Id="rId4" Type="http://schemas.openxmlformats.org/officeDocument/2006/relationships/hyperlink" Target="https://sre.google/workbook/on-cal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2056019" y="-1222724"/>
            <a:ext cx="5032058" cy="5032058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758381" y="2122408"/>
            <a:ext cx="7620000" cy="898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16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Pager Rotation Duties in DevOps: Best Practices and Industry Insights</a:t>
            </a:r>
            <a:endParaRPr lang="en-US" sz="2416" dirty="0"/>
          </a:p>
        </p:txBody>
      </p:sp>
      <p:sp>
        <p:nvSpPr>
          <p:cNvPr id="4" name="StaticPath"/>
          <p:cNvSpPr/>
          <p:nvPr/>
        </p:nvSpPr>
        <p:spPr>
          <a:xfrm>
            <a:off x="7190137" y="3357658"/>
            <a:ext cx="2394585" cy="2394585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aticPath"/>
          <p:cNvSpPr/>
          <p:nvPr/>
        </p:nvSpPr>
        <p:spPr>
          <a:xfrm>
            <a:off x="-957929" y="-1222724"/>
            <a:ext cx="1991678" cy="1991677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aticPath"/>
          <p:cNvSpPr/>
          <p:nvPr/>
        </p:nvSpPr>
        <p:spPr>
          <a:xfrm>
            <a:off x="303609" y="4340114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taticPath"/>
          <p:cNvSpPr/>
          <p:nvPr/>
        </p:nvSpPr>
        <p:spPr>
          <a:xfrm>
            <a:off x="939165" y="4348163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taticPath"/>
          <p:cNvSpPr/>
          <p:nvPr/>
        </p:nvSpPr>
        <p:spPr>
          <a:xfrm>
            <a:off x="620268" y="4338923"/>
            <a:ext cx="571500" cy="571500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24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What Is Pager Rotation and Why It Matters</a:t>
            </a:r>
            <a:endParaRPr lang="en-US" sz="1624" dirty="0"/>
          </a:p>
        </p:txBody>
      </p:sp>
      <p:sp>
        <p:nvSpPr>
          <p:cNvPr id="4" name="Subtitle 1"/>
          <p:cNvSpPr/>
          <p:nvPr/>
        </p:nvSpPr>
        <p:spPr>
          <a:xfrm>
            <a:off x="665798" y="6877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What is Pager Rotation?</a:t>
            </a:r>
            <a:endParaRPr lang="en-US" sz="1347" dirty="0"/>
          </a:p>
        </p:txBody>
      </p:sp>
      <p:sp>
        <p:nvSpPr>
          <p:cNvPr id="5" name="Paragraph 1"/>
          <p:cNvSpPr/>
          <p:nvPr/>
        </p:nvSpPr>
        <p:spPr>
          <a:xfrm>
            <a:off x="665798" y="10687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Pager rotation refers to assigning team members to be on-call for production system alerts. These individuals respond to issues such as outages or degradations during and outside normal work hours.</a:t>
            </a:r>
            <a:endParaRPr lang="en-US" sz="1103" dirty="0"/>
          </a:p>
        </p:txBody>
      </p:sp>
      <p:sp>
        <p:nvSpPr>
          <p:cNvPr id="6" name="Subtitle 2"/>
          <p:cNvSpPr/>
          <p:nvPr/>
        </p:nvSpPr>
        <p:spPr>
          <a:xfrm>
            <a:off x="665798" y="20212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Why It’s Important in DevOps</a:t>
            </a:r>
            <a:endParaRPr lang="en-US" sz="1347" dirty="0"/>
          </a:p>
        </p:txBody>
      </p:sp>
      <p:sp>
        <p:nvSpPr>
          <p:cNvPr id="7" name="Paragraph 2"/>
          <p:cNvSpPr/>
          <p:nvPr/>
        </p:nvSpPr>
        <p:spPr>
          <a:xfrm>
            <a:off x="665798" y="24022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It ensures 24/7 monitoring, faster incident response, shared accountability, and better code through feedback. Devs and Ops both participate, preventing burnout and silos.</a:t>
            </a:r>
            <a:endParaRPr lang="en-US" sz="1103" dirty="0"/>
          </a:p>
        </p:txBody>
      </p:sp>
      <p:sp>
        <p:nvSpPr>
          <p:cNvPr id="8" name="Subtitle 3"/>
          <p:cNvSpPr/>
          <p:nvPr/>
        </p:nvSpPr>
        <p:spPr>
          <a:xfrm>
            <a:off x="665798" y="311658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DevOps Perspective</a:t>
            </a:r>
            <a:endParaRPr lang="en-US" sz="1347" dirty="0"/>
          </a:p>
        </p:txBody>
      </p:sp>
      <p:sp>
        <p:nvSpPr>
          <p:cNvPr id="9" name="Paragraph 3"/>
          <p:cNvSpPr/>
          <p:nvPr/>
        </p:nvSpPr>
        <p:spPr>
          <a:xfrm>
            <a:off x="665798" y="349758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In DevOps, every engineer is accountable for system stability. Pager rotation enforces this culture. As Patrick Lightbody noted, waking devs at 2 AM results in faster fixes.</a:t>
            </a:r>
            <a:endParaRPr lang="en-US" sz="1103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BAB574-19B6-723E-ED33-099E44C9E267}"/>
              </a:ext>
            </a:extLst>
          </p:cNvPr>
          <p:cNvSpPr txBox="1"/>
          <p:nvPr/>
        </p:nvSpPr>
        <p:spPr>
          <a:xfrm>
            <a:off x="527209" y="4881441"/>
            <a:ext cx="4348764" cy="26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Source: The DevOps Handbook, Ch. 16; Google SRE Workbook,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38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Why Developers Should Be On-Call</a:t>
            </a:r>
            <a:endParaRPr lang="en-US" sz="1838" dirty="0"/>
          </a:p>
        </p:txBody>
      </p:sp>
      <p:sp>
        <p:nvSpPr>
          <p:cNvPr id="4" name="Subtitle 1"/>
          <p:cNvSpPr/>
          <p:nvPr/>
        </p:nvSpPr>
        <p:spPr>
          <a:xfrm>
            <a:off x="665798" y="619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3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Problems with Traditional Models</a:t>
            </a:r>
            <a:endParaRPr lang="en-US" sz="1137" dirty="0"/>
          </a:p>
        </p:txBody>
      </p:sp>
      <p:sp>
        <p:nvSpPr>
          <p:cNvPr id="5" name="Paragraph 1"/>
          <p:cNvSpPr/>
          <p:nvPr/>
        </p:nvSpPr>
        <p:spPr>
          <a:xfrm>
            <a:off x="665798" y="1000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6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In traditional setups, developers hand off code to Ops teams, creating silos and delays. Ops are burdened with fixing unfamiliar code, leading to slower resolutions and poor accountability.</a:t>
            </a:r>
            <a:endParaRPr lang="en-US" sz="1164" dirty="0"/>
          </a:p>
        </p:txBody>
      </p:sp>
      <p:sp>
        <p:nvSpPr>
          <p:cNvPr id="6" name="Subtitle 2"/>
          <p:cNvSpPr/>
          <p:nvPr/>
        </p:nvSpPr>
        <p:spPr>
          <a:xfrm>
            <a:off x="665798" y="1952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3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Modern Approach (DevOps &amp; SRE)</a:t>
            </a:r>
            <a:endParaRPr lang="en-US" sz="1137" dirty="0"/>
          </a:p>
        </p:txBody>
      </p:sp>
      <p:sp>
        <p:nvSpPr>
          <p:cNvPr id="7" name="Paragraph 2"/>
          <p:cNvSpPr/>
          <p:nvPr/>
        </p:nvSpPr>
        <p:spPr>
          <a:xfrm>
            <a:off x="665798" y="2333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6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DevOps promotes a culture where developers take ownership of production services. On-call duties enhance their operational awareness and drive quality.</a:t>
            </a:r>
            <a:endParaRPr lang="en-US" sz="1164" dirty="0"/>
          </a:p>
        </p:txBody>
      </p:sp>
      <p:sp>
        <p:nvSpPr>
          <p:cNvPr id="8" name="Subtitle 3"/>
          <p:cNvSpPr/>
          <p:nvPr/>
        </p:nvSpPr>
        <p:spPr>
          <a:xfrm>
            <a:off x="665798" y="3048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3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Benefits of Developer Involvement</a:t>
            </a:r>
            <a:endParaRPr lang="en-US" sz="1137" dirty="0"/>
          </a:p>
        </p:txBody>
      </p:sp>
      <p:sp>
        <p:nvSpPr>
          <p:cNvPr id="9" name="Paragraph 3"/>
          <p:cNvSpPr/>
          <p:nvPr/>
        </p:nvSpPr>
        <p:spPr>
          <a:xfrm>
            <a:off x="665798" y="3429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6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Involving developers improves monitoring, speeds up fixes, reduces Ops fatigue, and elevates code quality. Teams become more reliable and responsive.</a:t>
            </a:r>
            <a:endParaRPr lang="en-US" sz="1164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8366DD-0C76-F235-9F61-E7C3C0DBA8D7}"/>
              </a:ext>
            </a:extLst>
          </p:cNvPr>
          <p:cNvSpPr txBox="1"/>
          <p:nvPr/>
        </p:nvSpPr>
        <p:spPr>
          <a:xfrm>
            <a:off x="527209" y="4881441"/>
            <a:ext cx="434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Source: The DevOps Handbook, Ch. 16; </a:t>
            </a:r>
            <a:r>
              <a:rPr lang="en-US" sz="1164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Squadcast</a:t>
            </a:r>
            <a:r>
              <a:rPr lang="en-US" sz="116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 Blog,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87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Industry Best Practices for Pager Duty</a:t>
            </a:r>
            <a:endParaRPr lang="en-US" sz="1687" dirty="0"/>
          </a:p>
        </p:txBody>
      </p:sp>
      <p:sp>
        <p:nvSpPr>
          <p:cNvPr id="4" name="Subtitle 1"/>
          <p:cNvSpPr/>
          <p:nvPr/>
        </p:nvSpPr>
        <p:spPr>
          <a:xfrm>
            <a:off x="852488" y="5476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Limit Pager Load</a:t>
            </a:r>
            <a:endParaRPr lang="en-US" sz="1293" dirty="0"/>
          </a:p>
        </p:txBody>
      </p:sp>
      <p:sp>
        <p:nvSpPr>
          <p:cNvPr id="5" name="Paragraph 1"/>
          <p:cNvSpPr/>
          <p:nvPr/>
        </p:nvSpPr>
        <p:spPr>
          <a:xfrm>
            <a:off x="852488" y="9286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To avoid burnout, Google recommends no more than two incidents per 12-hour shift. Too many alerts reduce effectiveness and team morale.</a:t>
            </a:r>
            <a:endParaRPr lang="en-US" sz="1282" dirty="0"/>
          </a:p>
        </p:txBody>
      </p:sp>
      <p:sp>
        <p:nvSpPr>
          <p:cNvPr id="6" name="Subtitle 2"/>
          <p:cNvSpPr/>
          <p:nvPr/>
        </p:nvSpPr>
        <p:spPr>
          <a:xfrm>
            <a:off x="852488" y="18811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Use Playbooks &amp; Postmortems</a:t>
            </a:r>
            <a:endParaRPr lang="en-US" sz="1293" dirty="0"/>
          </a:p>
        </p:txBody>
      </p:sp>
      <p:sp>
        <p:nvSpPr>
          <p:cNvPr id="7" name="Paragraph 2"/>
          <p:cNvSpPr/>
          <p:nvPr/>
        </p:nvSpPr>
        <p:spPr>
          <a:xfrm>
            <a:off x="852488" y="22621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Every alert should have a documented response guide. Regular postmortems help teams learn from incidents without assigning blame.</a:t>
            </a:r>
            <a:endParaRPr lang="en-US" sz="1282" dirty="0"/>
          </a:p>
        </p:txBody>
      </p:sp>
      <p:sp>
        <p:nvSpPr>
          <p:cNvPr id="8" name="Subtitle 3"/>
          <p:cNvSpPr/>
          <p:nvPr/>
        </p:nvSpPr>
        <p:spPr>
          <a:xfrm>
            <a:off x="852488" y="297656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Automation and SLO-Based Alerts</a:t>
            </a:r>
            <a:endParaRPr lang="en-US" sz="1293" dirty="0"/>
          </a:p>
        </p:txBody>
      </p:sp>
      <p:sp>
        <p:nvSpPr>
          <p:cNvPr id="9" name="Paragraph 3"/>
          <p:cNvSpPr/>
          <p:nvPr/>
        </p:nvSpPr>
        <p:spPr>
          <a:xfrm>
            <a:off x="852488" y="335756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8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Only alert on user-impacting issues. Use auto-healing scripts where possible and reserve human intervention for high-priority incidents.</a:t>
            </a:r>
            <a:endParaRPr lang="en-US" sz="1282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7D7C6D-A6C8-607F-4972-C47AA519EAD2}"/>
              </a:ext>
            </a:extLst>
          </p:cNvPr>
          <p:cNvSpPr txBox="1"/>
          <p:nvPr/>
        </p:nvSpPr>
        <p:spPr>
          <a:xfrm>
            <a:off x="527209" y="4786312"/>
            <a:ext cx="52818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Source: Google SRE Workbook, 2025; PagerDuty, 2025; </a:t>
            </a:r>
            <a:r>
              <a:rPr lang="en-US" sz="1100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Squadcast</a:t>
            </a:r>
            <a:r>
              <a:rPr lang="en-US" sz="11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 Blog,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5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How to Schedule Pager Rotation Effectively</a:t>
            </a:r>
            <a:endParaRPr lang="en-US" sz="1605" dirty="0"/>
          </a:p>
        </p:txBody>
      </p:sp>
      <p:sp>
        <p:nvSpPr>
          <p:cNvPr id="4" name="Subtitle 1"/>
          <p:cNvSpPr/>
          <p:nvPr/>
        </p:nvSpPr>
        <p:spPr>
          <a:xfrm>
            <a:off x="762000" y="5476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Scheduling Models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62000" y="9286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6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Use a follow-the-sun model for global teams, rotating shifts across time zones to avoid night work. For single-time-zone teams, implement day/night shifts and rotate fairly.</a:t>
            </a:r>
            <a:endParaRPr lang="en-US" sz="1161" dirty="0"/>
          </a:p>
        </p:txBody>
      </p:sp>
      <p:sp>
        <p:nvSpPr>
          <p:cNvPr id="6" name="Subtitle 2"/>
          <p:cNvSpPr/>
          <p:nvPr/>
        </p:nvSpPr>
        <p:spPr>
          <a:xfrm>
            <a:off x="762000" y="18811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Automation Tools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62000" y="22621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6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Leverage platforms like PagerDuty and Squadcast to automate shift creation, escalation policies, and contact methods. These tools also manage holidays and time-off requests.</a:t>
            </a:r>
            <a:endParaRPr lang="en-US" sz="1161" dirty="0"/>
          </a:p>
        </p:txBody>
      </p:sp>
      <p:sp>
        <p:nvSpPr>
          <p:cNvPr id="8" name="Subtitle 3"/>
          <p:cNvSpPr/>
          <p:nvPr/>
        </p:nvSpPr>
        <p:spPr>
          <a:xfrm>
            <a:off x="762000" y="297656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62000" y="335756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6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Enable easy shift swaps, use escalation timeouts, and give teams visibility into scheduling changes. This supports fairness and reduces burnout.</a:t>
            </a:r>
            <a:endParaRPr lang="en-US" sz="1161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40CBBF-BA64-A0F0-ABA1-1DF6666AF15F}"/>
              </a:ext>
            </a:extLst>
          </p:cNvPr>
          <p:cNvSpPr txBox="1"/>
          <p:nvPr/>
        </p:nvSpPr>
        <p:spPr>
          <a:xfrm>
            <a:off x="523875" y="4786312"/>
            <a:ext cx="5281862" cy="270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6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Source: PagerDuty, 2025; </a:t>
            </a:r>
            <a:r>
              <a:rPr lang="en-US" sz="1161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Squadcast</a:t>
            </a:r>
            <a:r>
              <a:rPr lang="en-US" sz="116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 Blog, 2025; </a:t>
            </a:r>
            <a:r>
              <a:rPr lang="en-US" sz="1161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AlertOps</a:t>
            </a:r>
            <a:r>
              <a:rPr lang="en-US" sz="116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,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84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Building a Healthy On-Call Culture</a:t>
            </a:r>
            <a:endParaRPr lang="en-US" sz="1784" dirty="0"/>
          </a:p>
        </p:txBody>
      </p:sp>
      <p:sp>
        <p:nvSpPr>
          <p:cNvPr id="4" name="Subtitle 1"/>
          <p:cNvSpPr/>
          <p:nvPr/>
        </p:nvSpPr>
        <p:spPr>
          <a:xfrm>
            <a:off x="665798" y="5476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8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Key Principles</a:t>
            </a:r>
            <a:endParaRPr lang="en-US" sz="1489" dirty="0"/>
          </a:p>
        </p:txBody>
      </p:sp>
      <p:sp>
        <p:nvSpPr>
          <p:cNvPr id="5" name="Paragraph 1"/>
          <p:cNvSpPr/>
          <p:nvPr/>
        </p:nvSpPr>
        <p:spPr>
          <a:xfrm>
            <a:off x="665798" y="9286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Psychological safety is crucial — teams should feel safe asking for help. Promote learning over blame and encourage empathy in incident response.</a:t>
            </a:r>
            <a:endParaRPr lang="en-US" sz="1270" dirty="0"/>
          </a:p>
        </p:txBody>
      </p:sp>
      <p:sp>
        <p:nvSpPr>
          <p:cNvPr id="6" name="Subtitle 2"/>
          <p:cNvSpPr/>
          <p:nvPr/>
        </p:nvSpPr>
        <p:spPr>
          <a:xfrm>
            <a:off x="665798" y="18811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8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Support &amp; Training</a:t>
            </a:r>
            <a:endParaRPr lang="en-US" sz="1489" dirty="0"/>
          </a:p>
        </p:txBody>
      </p:sp>
      <p:sp>
        <p:nvSpPr>
          <p:cNvPr id="7" name="Paragraph 2"/>
          <p:cNvSpPr/>
          <p:nvPr/>
        </p:nvSpPr>
        <p:spPr>
          <a:xfrm>
            <a:off x="665798" y="226218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Allow flexible shifts and time-off. New engineers should shadow on-call before participating. Use drills and update runbooks regularly.</a:t>
            </a:r>
            <a:endParaRPr lang="en-US" sz="1270" dirty="0"/>
          </a:p>
        </p:txBody>
      </p:sp>
      <p:sp>
        <p:nvSpPr>
          <p:cNvPr id="8" name="Subtitle 3"/>
          <p:cNvSpPr/>
          <p:nvPr/>
        </p:nvSpPr>
        <p:spPr>
          <a:xfrm>
            <a:off x="665798" y="297656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8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Metrics That Matter</a:t>
            </a:r>
            <a:endParaRPr lang="en-US" sz="1489" dirty="0"/>
          </a:p>
        </p:txBody>
      </p:sp>
      <p:sp>
        <p:nvSpPr>
          <p:cNvPr id="9" name="Paragraph 3"/>
          <p:cNvSpPr/>
          <p:nvPr/>
        </p:nvSpPr>
        <p:spPr>
          <a:xfrm>
            <a:off x="665798" y="335756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Track pager load, MTTR, escalation frequency, and alert fatigue. Use this data to improve processes and reduce recurring issues.</a:t>
            </a:r>
            <a:endParaRPr lang="en-US" sz="1270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165D3-5612-BD76-0A00-6BDD5E0E2651}"/>
              </a:ext>
            </a:extLst>
          </p:cNvPr>
          <p:cNvSpPr txBox="1"/>
          <p:nvPr/>
        </p:nvSpPr>
        <p:spPr>
          <a:xfrm>
            <a:off x="527209" y="4786312"/>
            <a:ext cx="5281862" cy="287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7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Source: Google SRE Workbook, 2025; </a:t>
            </a:r>
            <a:r>
              <a:rPr lang="en-US" sz="1270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AlertOps</a:t>
            </a:r>
            <a:r>
              <a:rPr lang="en-US" sz="127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,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-842581" y="437150"/>
            <a:ext cx="4014788" cy="4014788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285417" y="2160080"/>
            <a:ext cx="3467148" cy="823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8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Summary &amp; Final Takeaways</a:t>
            </a:r>
            <a:endParaRPr lang="en-US" sz="2885" dirty="0"/>
          </a:p>
        </p:txBody>
      </p:sp>
      <p:sp>
        <p:nvSpPr>
          <p:cNvPr id="4" name="StaticPath"/>
          <p:cNvSpPr/>
          <p:nvPr/>
        </p:nvSpPr>
        <p:spPr>
          <a:xfrm>
            <a:off x="6677739" y="195072"/>
            <a:ext cx="911543" cy="911543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taticPath"/>
          <p:cNvSpPr/>
          <p:nvPr/>
        </p:nvSpPr>
        <p:spPr>
          <a:xfrm>
            <a:off x="7963376" y="4002548"/>
            <a:ext cx="677228" cy="677228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taticPath"/>
          <p:cNvSpPr/>
          <p:nvPr/>
        </p:nvSpPr>
        <p:spPr>
          <a:xfrm>
            <a:off x="-1162717" y="-991076"/>
            <a:ext cx="2514600" cy="2514600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Question topic"/>
          <p:cNvSpPr/>
          <p:nvPr/>
        </p:nvSpPr>
        <p:spPr>
          <a:xfrm>
            <a:off x="2950607" y="689991"/>
            <a:ext cx="2286000" cy="30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DevOps Best Practices</a:t>
            </a:r>
            <a:endParaRPr lang="en-US" sz="1351" dirty="0"/>
          </a:p>
        </p:txBody>
      </p:sp>
      <p:sp>
        <p:nvSpPr>
          <p:cNvPr id="8" name="Text"/>
          <p:cNvSpPr/>
          <p:nvPr/>
        </p:nvSpPr>
        <p:spPr>
          <a:xfrm>
            <a:off x="5193649" y="2192369"/>
            <a:ext cx="2810589" cy="1431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3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Shared responsibility is key — those who write or deploy code should support it. Combine tools, process, and culture to build reliable systems. Only alert for critical issues and automate the rest. Every incident is a chance to learn and improve.</a:t>
            </a:r>
            <a:endParaRPr lang="en-US" sz="835" dirty="0"/>
          </a:p>
        </p:txBody>
      </p:sp>
      <p:sp>
        <p:nvSpPr>
          <p:cNvPr id="9" name="Question"/>
          <p:cNvSpPr/>
          <p:nvPr/>
        </p:nvSpPr>
        <p:spPr>
          <a:xfrm>
            <a:off x="5408343" y="1518428"/>
            <a:ext cx="2381250" cy="258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What should you remember about pager duty in DevOps?</a:t>
            </a:r>
            <a:endParaRPr lang="en-US" sz="992" dirty="0"/>
          </a:p>
        </p:txBody>
      </p:sp>
      <p:sp>
        <p:nvSpPr>
          <p:cNvPr id="10" name="StaticPath"/>
          <p:cNvSpPr/>
          <p:nvPr/>
        </p:nvSpPr>
        <p:spPr>
          <a:xfrm>
            <a:off x="2976229" y="323231"/>
            <a:ext cx="2128838" cy="1020128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1719" cy="2321719"/>
          </a:xfrm>
          <a:prstGeom prst="rect">
            <a:avLst/>
          </a:prstGeom>
        </p:spPr>
      </p:pic>
      <p:sp>
        <p:nvSpPr>
          <p:cNvPr id="3" name="StaticPath"/>
          <p:cNvSpPr/>
          <p:nvPr/>
        </p:nvSpPr>
        <p:spPr>
          <a:xfrm>
            <a:off x="1905000" y="457200"/>
            <a:ext cx="4286250" cy="412282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"/>
          <p:cNvSpPr/>
          <p:nvPr/>
        </p:nvSpPr>
        <p:spPr>
          <a:xfrm>
            <a:off x="2095500" y="1660359"/>
            <a:ext cx="3905250" cy="17097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l">
              <a:buFontTx/>
              <a:buChar char="-"/>
            </a:pPr>
            <a:r>
              <a:rPr lang="en-US" sz="143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 DevOps Handbook (Ch. 16)</a:t>
            </a:r>
          </a:p>
          <a:p>
            <a:pPr marL="285750" indent="-285750" algn="l">
              <a:buFontTx/>
              <a:buChar char="-"/>
            </a:pPr>
            <a:endParaRPr lang="en-US" sz="1433" dirty="0"/>
          </a:p>
          <a:p>
            <a:pPr marL="285750" indent="-285750" algn="l">
              <a:buFontTx/>
              <a:buChar char="-"/>
            </a:pPr>
            <a:r>
              <a:rPr lang="en-US" sz="143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Google SRE Workbook, 2025</a:t>
            </a:r>
          </a:p>
          <a:p>
            <a:r>
              <a:rPr lang="en-US" sz="1433" dirty="0">
                <a:hlinkClick r:id="rId4"/>
              </a:rPr>
              <a:t>https://sre.google/workbook/on-call/</a:t>
            </a:r>
            <a:endParaRPr lang="en-US" sz="1433" dirty="0"/>
          </a:p>
          <a:p>
            <a:endParaRPr lang="en-US" sz="1433" dirty="0"/>
          </a:p>
          <a:p>
            <a:pPr marL="285750" indent="-285750" algn="l">
              <a:buFontTx/>
              <a:buChar char="-"/>
            </a:pPr>
            <a:r>
              <a:rPr lang="en-US" sz="1433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Squadcast</a:t>
            </a:r>
            <a:r>
              <a:rPr lang="en-US" sz="143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 Blog, 2025</a:t>
            </a:r>
          </a:p>
          <a:p>
            <a:r>
              <a:rPr lang="en-US" sz="1433" dirty="0">
                <a:hlinkClick r:id="rId5"/>
              </a:rPr>
              <a:t>https://medium.com/%40squadcast/on-call-rotation-a-complete-guide-to-best-practices-997b0da54499</a:t>
            </a:r>
            <a:endParaRPr lang="en-US" sz="1433" dirty="0"/>
          </a:p>
          <a:p>
            <a:endParaRPr lang="en-US" sz="1433" dirty="0"/>
          </a:p>
          <a:p>
            <a:pPr marL="285750" indent="-285750" algn="l">
              <a:buFontTx/>
              <a:buChar char="-"/>
            </a:pPr>
            <a:r>
              <a:rPr lang="en-US" sz="1433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AlertOps</a:t>
            </a:r>
            <a:r>
              <a:rPr lang="en-US" sz="143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, 2025</a:t>
            </a:r>
          </a:p>
          <a:p>
            <a:r>
              <a:rPr lang="en-US" sz="1433" dirty="0">
                <a:hlinkClick r:id="rId6"/>
              </a:rPr>
              <a:t>https://alertops.com/on-call-rotation/</a:t>
            </a:r>
            <a:endParaRPr lang="en-US" sz="1433" dirty="0"/>
          </a:p>
          <a:p>
            <a:endParaRPr lang="en-US" sz="1433" dirty="0"/>
          </a:p>
          <a:p>
            <a:pPr marL="285750" indent="-285750" algn="l">
              <a:buFontTx/>
              <a:buChar char="-"/>
            </a:pPr>
            <a:r>
              <a:rPr lang="en-US" sz="143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PagerDuty, 2025</a:t>
            </a:r>
          </a:p>
          <a:p>
            <a:r>
              <a:rPr lang="en-US" sz="1600" dirty="0">
                <a:hlinkClick r:id="rId7"/>
              </a:rPr>
              <a:t>https://www.pagerduty.com/resources/incident-management-response/learn/call-rotations-schedules/</a:t>
            </a:r>
            <a:endParaRPr lang="en-US" sz="1600" dirty="0"/>
          </a:p>
          <a:p>
            <a:endParaRPr lang="en-US" sz="1433" dirty="0"/>
          </a:p>
        </p:txBody>
      </p:sp>
      <p:sp>
        <p:nvSpPr>
          <p:cNvPr id="5" name="Title"/>
          <p:cNvSpPr/>
          <p:nvPr/>
        </p:nvSpPr>
        <p:spPr>
          <a:xfrm>
            <a:off x="6349460" y="2089404"/>
            <a:ext cx="2427065" cy="322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6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References</a:t>
            </a:r>
            <a:endParaRPr lang="en-US" sz="2167" dirty="0"/>
          </a:p>
        </p:txBody>
      </p:sp>
      <p:sp>
        <p:nvSpPr>
          <p:cNvPr id="6" name="Subtitle"/>
          <p:cNvSpPr/>
          <p:nvPr/>
        </p:nvSpPr>
        <p:spPr>
          <a:xfrm>
            <a:off x="6670929" y="2645092"/>
            <a:ext cx="1896809" cy="409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Sources Cited in This Presentation</a:t>
            </a:r>
            <a:endParaRPr lang="en-US" sz="1285" dirty="0"/>
          </a:p>
        </p:txBody>
      </p:sp>
      <p:sp>
        <p:nvSpPr>
          <p:cNvPr id="7" name="StaticPath"/>
          <p:cNvSpPr/>
          <p:nvPr/>
        </p:nvSpPr>
        <p:spPr>
          <a:xfrm>
            <a:off x="5762625" y="3405188"/>
            <a:ext cx="428625" cy="42862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ticPath"/>
          <p:cNvSpPr/>
          <p:nvPr/>
        </p:nvSpPr>
        <p:spPr>
          <a:xfrm>
            <a:off x="6349460" y="4058745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taticPath"/>
          <p:cNvSpPr/>
          <p:nvPr/>
        </p:nvSpPr>
        <p:spPr>
          <a:xfrm>
            <a:off x="6670929" y="4058650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694</Words>
  <Application>Microsoft Macintosh PowerPoint</Application>
  <PresentationFormat>On-screen Show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OpenSans-Bold</vt:lpstr>
      <vt:lpstr>OpenSans-Regular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nima memarzadeh</cp:lastModifiedBy>
  <cp:revision>3</cp:revision>
  <dcterms:created xsi:type="dcterms:W3CDTF">2025-06-30T17:50:36Z</dcterms:created>
  <dcterms:modified xsi:type="dcterms:W3CDTF">2025-07-04T15:42:16Z</dcterms:modified>
</cp:coreProperties>
</file>