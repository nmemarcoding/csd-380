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9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24" y="2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030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2056019" y="-1222724"/>
            <a:ext cx="5032058" cy="5032058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758381" y="2122408"/>
            <a:ext cx="7620000" cy="898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4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Establishing a Just, Learning Culture: Barriers and Challenges</a:t>
            </a:r>
            <a:endParaRPr lang="en-US" sz="2549" dirty="0"/>
          </a:p>
        </p:txBody>
      </p:sp>
      <p:sp>
        <p:nvSpPr>
          <p:cNvPr id="4" name="StaticPath"/>
          <p:cNvSpPr/>
          <p:nvPr/>
        </p:nvSpPr>
        <p:spPr>
          <a:xfrm>
            <a:off x="7190137" y="3357658"/>
            <a:ext cx="2394585" cy="239458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aticPath"/>
          <p:cNvSpPr/>
          <p:nvPr/>
        </p:nvSpPr>
        <p:spPr>
          <a:xfrm>
            <a:off x="-957929" y="-1222724"/>
            <a:ext cx="1991678" cy="1991677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aticPath"/>
          <p:cNvSpPr/>
          <p:nvPr/>
        </p:nvSpPr>
        <p:spPr>
          <a:xfrm>
            <a:off x="303609" y="4340114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taticPath"/>
          <p:cNvSpPr/>
          <p:nvPr/>
        </p:nvSpPr>
        <p:spPr>
          <a:xfrm>
            <a:off x="939165" y="4348163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taticPath"/>
          <p:cNvSpPr/>
          <p:nvPr/>
        </p:nvSpPr>
        <p:spPr>
          <a:xfrm>
            <a:off x="620268" y="4338923"/>
            <a:ext cx="571500" cy="571500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What is a Just Culture?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665798" y="619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8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Definition and Origin</a:t>
            </a:r>
            <a:endParaRPr lang="en-US" sz="1383" dirty="0"/>
          </a:p>
        </p:txBody>
      </p:sp>
      <p:sp>
        <p:nvSpPr>
          <p:cNvPr id="5" name="Paragraph 1"/>
          <p:cNvSpPr/>
          <p:nvPr/>
        </p:nvSpPr>
        <p:spPr>
          <a:xfrm>
            <a:off x="665798" y="1000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3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 Just Culture promotes fairness and accountability, aiming to learn from mistakes rather than punish them. It originated in high-risk industries such as aviation and healthcare.</a:t>
            </a:r>
            <a:endParaRPr lang="en-US" sz="1232" dirty="0"/>
          </a:p>
        </p:txBody>
      </p:sp>
      <p:sp>
        <p:nvSpPr>
          <p:cNvPr id="6" name="Subtitle 2"/>
          <p:cNvSpPr/>
          <p:nvPr/>
        </p:nvSpPr>
        <p:spPr>
          <a:xfrm>
            <a:off x="665798" y="1952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8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Encouraging Open Reporting</a:t>
            </a:r>
            <a:endParaRPr lang="en-US" sz="1383" dirty="0"/>
          </a:p>
        </p:txBody>
      </p:sp>
      <p:sp>
        <p:nvSpPr>
          <p:cNvPr id="7" name="Paragraph 2"/>
          <p:cNvSpPr/>
          <p:nvPr/>
        </p:nvSpPr>
        <p:spPr>
          <a:xfrm>
            <a:off x="665798" y="2333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3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It encourages employees to report errors openly, which helps improve safety and systemic learning without fear of blame.</a:t>
            </a:r>
            <a:endParaRPr lang="en-US" sz="1232" dirty="0"/>
          </a:p>
        </p:txBody>
      </p:sp>
      <p:sp>
        <p:nvSpPr>
          <p:cNvPr id="8" name="Subtitle 3"/>
          <p:cNvSpPr/>
          <p:nvPr/>
        </p:nvSpPr>
        <p:spPr>
          <a:xfrm>
            <a:off x="665798" y="3048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8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Key Philosophy</a:t>
            </a:r>
            <a:endParaRPr lang="en-US" sz="1383" dirty="0"/>
          </a:p>
        </p:txBody>
      </p:sp>
      <p:sp>
        <p:nvSpPr>
          <p:cNvPr id="9" name="Paragraph 3"/>
          <p:cNvSpPr/>
          <p:nvPr/>
        </p:nvSpPr>
        <p:spPr>
          <a:xfrm>
            <a:off x="665798" y="3429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3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approach values restorative over retributive justice, recognizing that people make rational decisions based on their knowledge and context.</a:t>
            </a:r>
            <a:endParaRPr lang="en-US" sz="1232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36F4C7-EF6B-9787-D95D-68D165C25395}"/>
              </a:ext>
            </a:extLst>
          </p:cNvPr>
          <p:cNvSpPr txBox="1"/>
          <p:nvPr/>
        </p:nvSpPr>
        <p:spPr>
          <a:xfrm>
            <a:off x="527209" y="4779831"/>
            <a:ext cx="4773468" cy="55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3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Sources: Shorrock, 2023; Geraghty, 2025; </a:t>
            </a:r>
            <a:r>
              <a:rPr lang="en-US" sz="1232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Boskeljon</a:t>
            </a:r>
            <a:r>
              <a:rPr lang="en-US" sz="123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-Horst et al., 2024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Why Just Culture Matters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665798" y="619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Importance in Complex Systems</a:t>
            </a:r>
            <a:endParaRPr lang="en-US" sz="1285" dirty="0"/>
          </a:p>
        </p:txBody>
      </p:sp>
      <p:sp>
        <p:nvSpPr>
          <p:cNvPr id="5" name="Paragraph 1"/>
          <p:cNvSpPr/>
          <p:nvPr/>
        </p:nvSpPr>
        <p:spPr>
          <a:xfrm>
            <a:off x="665798" y="1000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Errors are inevitable in complex systems, and a Just Culture ensures that mistakes become learning opportunities rather than hidden failures.</a:t>
            </a:r>
            <a:endParaRPr lang="en-US" sz="1280" dirty="0"/>
          </a:p>
        </p:txBody>
      </p:sp>
      <p:sp>
        <p:nvSpPr>
          <p:cNvPr id="6" name="Subtitle 2"/>
          <p:cNvSpPr/>
          <p:nvPr/>
        </p:nvSpPr>
        <p:spPr>
          <a:xfrm>
            <a:off x="665798" y="1952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Impact on Psychological Safety</a:t>
            </a:r>
            <a:endParaRPr lang="en-US" sz="1285" dirty="0"/>
          </a:p>
        </p:txBody>
      </p:sp>
      <p:sp>
        <p:nvSpPr>
          <p:cNvPr id="7" name="Paragraph 2"/>
          <p:cNvSpPr/>
          <p:nvPr/>
        </p:nvSpPr>
        <p:spPr>
          <a:xfrm>
            <a:off x="665798" y="2333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Without psychological safety, employees conceal errors. Just Culture fosters trust and supports individuals involved in incidents.</a:t>
            </a:r>
            <a:endParaRPr lang="en-US" sz="1280" dirty="0"/>
          </a:p>
        </p:txBody>
      </p:sp>
      <p:sp>
        <p:nvSpPr>
          <p:cNvPr id="8" name="Subtitle 3"/>
          <p:cNvSpPr/>
          <p:nvPr/>
        </p:nvSpPr>
        <p:spPr>
          <a:xfrm>
            <a:off x="665798" y="3048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Core Principles</a:t>
            </a:r>
            <a:endParaRPr lang="en-US" sz="1285" dirty="0"/>
          </a:p>
        </p:txBody>
      </p:sp>
      <p:sp>
        <p:nvSpPr>
          <p:cNvPr id="9" name="Paragraph 3"/>
          <p:cNvSpPr/>
          <p:nvPr/>
        </p:nvSpPr>
        <p:spPr>
          <a:xfrm>
            <a:off x="665798" y="3429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It relies on local rationality, forward-looking accountability, and strong psychological safety to promote continuous improvement.</a:t>
            </a:r>
            <a:endParaRPr lang="en-US" sz="1280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D46858-6DDE-A962-35E1-BB5A6FB6B183}"/>
              </a:ext>
            </a:extLst>
          </p:cNvPr>
          <p:cNvSpPr txBox="1"/>
          <p:nvPr/>
        </p:nvSpPr>
        <p:spPr>
          <a:xfrm>
            <a:off x="527209" y="4854190"/>
            <a:ext cx="4773468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8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Sources: Geraghty, 2025; Shorrock, 2023; </a:t>
            </a:r>
            <a:r>
              <a:rPr lang="en-US" sz="1280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Boskeljon</a:t>
            </a:r>
            <a:r>
              <a:rPr lang="en-US" sz="128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-Horst et al.,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99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Conceptual &amp; Cultural Barriers</a:t>
            </a:r>
            <a:endParaRPr lang="en-US" sz="1899" dirty="0"/>
          </a:p>
        </p:txBody>
      </p:sp>
      <p:sp>
        <p:nvSpPr>
          <p:cNvPr id="4" name="Subtitle 1"/>
          <p:cNvSpPr/>
          <p:nvPr/>
        </p:nvSpPr>
        <p:spPr>
          <a:xfrm>
            <a:off x="665798" y="5476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3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Misconceptions About Culture</a:t>
            </a:r>
            <a:endParaRPr lang="en-US" sz="1334" dirty="0"/>
          </a:p>
        </p:txBody>
      </p:sp>
      <p:sp>
        <p:nvSpPr>
          <p:cNvPr id="5" name="Paragraph 1"/>
          <p:cNvSpPr/>
          <p:nvPr/>
        </p:nvSpPr>
        <p:spPr>
          <a:xfrm>
            <a:off x="665798" y="9286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1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Just Culture is not a separate culture but a way to express values like fairness. It’s a lens through which organizational behavior is interpreted.</a:t>
            </a:r>
            <a:endParaRPr lang="en-US" sz="1318" dirty="0"/>
          </a:p>
        </p:txBody>
      </p:sp>
      <p:sp>
        <p:nvSpPr>
          <p:cNvPr id="6" name="Subtitle 2"/>
          <p:cNvSpPr/>
          <p:nvPr/>
        </p:nvSpPr>
        <p:spPr>
          <a:xfrm>
            <a:off x="665798" y="18811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3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Challenges of Change</a:t>
            </a:r>
            <a:endParaRPr lang="en-US" sz="1334" dirty="0"/>
          </a:p>
        </p:txBody>
      </p:sp>
      <p:sp>
        <p:nvSpPr>
          <p:cNvPr id="7" name="Paragraph 2"/>
          <p:cNvSpPr/>
          <p:nvPr/>
        </p:nvSpPr>
        <p:spPr>
          <a:xfrm>
            <a:off x="665798" y="22621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1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Cultural transformation is bottom-up, slow, and adaptive. Top-down mandates often fail to achieve real change.</a:t>
            </a:r>
            <a:endParaRPr lang="en-US" sz="1318" dirty="0"/>
          </a:p>
        </p:txBody>
      </p:sp>
      <p:sp>
        <p:nvSpPr>
          <p:cNvPr id="8" name="Subtitle 3"/>
          <p:cNvSpPr/>
          <p:nvPr/>
        </p:nvSpPr>
        <p:spPr>
          <a:xfrm>
            <a:off x="665798" y="29765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3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Legacy and Subcultures</a:t>
            </a:r>
            <a:endParaRPr lang="en-US" sz="1334" dirty="0"/>
          </a:p>
        </p:txBody>
      </p:sp>
      <p:sp>
        <p:nvSpPr>
          <p:cNvPr id="9" name="Paragraph 3"/>
          <p:cNvSpPr/>
          <p:nvPr/>
        </p:nvSpPr>
        <p:spPr>
          <a:xfrm>
            <a:off x="665798" y="33575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1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Conflicting professional values and past scapegoating incidents create distrust and resistance to change.</a:t>
            </a:r>
            <a:endParaRPr lang="en-US" sz="1318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42C2CB-6C4B-EEC5-AB71-E3EDCA62A00B}"/>
              </a:ext>
            </a:extLst>
          </p:cNvPr>
          <p:cNvSpPr txBox="1"/>
          <p:nvPr/>
        </p:nvSpPr>
        <p:spPr>
          <a:xfrm>
            <a:off x="527209" y="4833937"/>
            <a:ext cx="2950038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1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Sources: Shorrock, 2023; Geraghty, 2025</a:t>
            </a:r>
          </a:p>
          <a:p>
            <a:endParaRPr lang="en-US" sz="1318" dirty="0">
              <a:solidFill>
                <a:srgbClr val="000000"/>
              </a:solidFill>
              <a:latin typeface="OpenSans-Regular" pitchFamily="34" charset="0"/>
              <a:ea typeface="OpenSans-Regular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33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Organizational &amp; Leadership Barriers</a:t>
            </a:r>
            <a:endParaRPr lang="en-US" sz="1733" dirty="0"/>
          </a:p>
        </p:txBody>
      </p:sp>
      <p:sp>
        <p:nvSpPr>
          <p:cNvPr id="4" name="Subtitle 1"/>
          <p:cNvSpPr/>
          <p:nvPr/>
        </p:nvSpPr>
        <p:spPr>
          <a:xfrm>
            <a:off x="665798" y="5476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Inconsistent Leadership</a:t>
            </a:r>
            <a:endParaRPr lang="en-US" sz="1355" dirty="0"/>
          </a:p>
        </p:txBody>
      </p:sp>
      <p:sp>
        <p:nvSpPr>
          <p:cNvPr id="5" name="Paragraph 1"/>
          <p:cNvSpPr/>
          <p:nvPr/>
        </p:nvSpPr>
        <p:spPr>
          <a:xfrm>
            <a:off x="665798" y="9286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Leaders may promote Just Culture verbally but resort to punitive actions in crises, undermining credibility and trust.</a:t>
            </a:r>
            <a:endParaRPr lang="en-US" sz="1365" dirty="0"/>
          </a:p>
        </p:txBody>
      </p:sp>
      <p:sp>
        <p:nvSpPr>
          <p:cNvPr id="6" name="Subtitle 2"/>
          <p:cNvSpPr/>
          <p:nvPr/>
        </p:nvSpPr>
        <p:spPr>
          <a:xfrm>
            <a:off x="665798" y="18811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Resistance and Misalignment</a:t>
            </a:r>
            <a:endParaRPr lang="en-US" sz="1355" dirty="0"/>
          </a:p>
        </p:txBody>
      </p:sp>
      <p:sp>
        <p:nvSpPr>
          <p:cNvPr id="7" name="Paragraph 2"/>
          <p:cNvSpPr/>
          <p:nvPr/>
        </p:nvSpPr>
        <p:spPr>
          <a:xfrm>
            <a:off x="665798" y="22621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Middle managers fear losing authority or being seen as weak. HR, Legal, and Safety departments often work in silos.</a:t>
            </a:r>
            <a:endParaRPr lang="en-US" sz="1365" dirty="0"/>
          </a:p>
        </p:txBody>
      </p:sp>
      <p:sp>
        <p:nvSpPr>
          <p:cNvPr id="8" name="Subtitle 3"/>
          <p:cNvSpPr/>
          <p:nvPr/>
        </p:nvSpPr>
        <p:spPr>
          <a:xfrm>
            <a:off x="665798" y="29765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Training Gaps</a:t>
            </a:r>
            <a:endParaRPr lang="en-US" sz="1355" dirty="0"/>
          </a:p>
        </p:txBody>
      </p:sp>
      <p:sp>
        <p:nvSpPr>
          <p:cNvPr id="9" name="Paragraph 3"/>
          <p:cNvSpPr/>
          <p:nvPr/>
        </p:nvSpPr>
        <p:spPr>
          <a:xfrm>
            <a:off x="665798" y="33575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Insufficient or rushed training fails to prepare leaders and staff to apply Just Culture principles effectively.</a:t>
            </a:r>
            <a:endParaRPr lang="en-US" sz="1365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128DAB-E071-F194-895B-417DB0E2DBA4}"/>
              </a:ext>
            </a:extLst>
          </p:cNvPr>
          <p:cNvSpPr txBox="1"/>
          <p:nvPr/>
        </p:nvSpPr>
        <p:spPr>
          <a:xfrm>
            <a:off x="449374" y="4833937"/>
            <a:ext cx="5279010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6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Sources: Essen et al., 2024; </a:t>
            </a:r>
            <a:r>
              <a:rPr lang="en-US" sz="1365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Boskeljon</a:t>
            </a:r>
            <a:r>
              <a:rPr lang="en-US" sz="136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-Horst et al.,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1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Psychological and Social Barriers</a:t>
            </a:r>
            <a:endParaRPr lang="en-US" sz="1810" dirty="0"/>
          </a:p>
        </p:txBody>
      </p:sp>
      <p:sp>
        <p:nvSpPr>
          <p:cNvPr id="4" name="Subtitle 1"/>
          <p:cNvSpPr/>
          <p:nvPr/>
        </p:nvSpPr>
        <p:spPr>
          <a:xfrm>
            <a:off x="552450" y="3571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Fear and Shame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552450" y="7381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Many employees hesitate to speak up due to fear of judgment, punishment, or isolation — especially in hierarchical environments.</a:t>
            </a:r>
            <a:endParaRPr lang="en-US" sz="1329" dirty="0"/>
          </a:p>
        </p:txBody>
      </p:sp>
      <p:sp>
        <p:nvSpPr>
          <p:cNvPr id="6" name="Subtitle 2"/>
          <p:cNvSpPr/>
          <p:nvPr/>
        </p:nvSpPr>
        <p:spPr>
          <a:xfrm>
            <a:off x="552450" y="16906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Power Gradients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552450" y="20716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Junior staff often stay silent when authority figures dominate. This imbalance erodes openness and stalls improvement.</a:t>
            </a:r>
            <a:endParaRPr lang="en-US" sz="1329" dirty="0"/>
          </a:p>
        </p:txBody>
      </p:sp>
      <p:sp>
        <p:nvSpPr>
          <p:cNvPr id="8" name="Subtitle 3"/>
          <p:cNvSpPr/>
          <p:nvPr/>
        </p:nvSpPr>
        <p:spPr>
          <a:xfrm>
            <a:off x="552450" y="2786063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Trust and Blame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552450" y="3167063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Trust takes time to build but can collapse quickly. The human tendency to assign blame is deeply rooted and counterproductive.</a:t>
            </a:r>
            <a:endParaRPr lang="en-US" sz="1329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C52A4-E75B-E476-35E3-22F6AE297C6A}"/>
              </a:ext>
            </a:extLst>
          </p:cNvPr>
          <p:cNvSpPr txBox="1"/>
          <p:nvPr/>
        </p:nvSpPr>
        <p:spPr>
          <a:xfrm>
            <a:off x="527209" y="4846624"/>
            <a:ext cx="5279010" cy="296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Sources: Geraghty, 2025; Shorrock, 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44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Structural, Legal, and Societal Barriers</a:t>
            </a:r>
            <a:endParaRPr lang="en-US" sz="1644" dirty="0"/>
          </a:p>
        </p:txBody>
      </p:sp>
      <p:sp>
        <p:nvSpPr>
          <p:cNvPr id="4" name="Subtitle 1"/>
          <p:cNvSpPr/>
          <p:nvPr/>
        </p:nvSpPr>
        <p:spPr>
          <a:xfrm>
            <a:off x="665798" y="45533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9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Legal Complexity</a:t>
            </a:r>
            <a:endParaRPr lang="en-US" sz="1391" dirty="0"/>
          </a:p>
        </p:txBody>
      </p:sp>
      <p:sp>
        <p:nvSpPr>
          <p:cNvPr id="5" name="Paragraph 1"/>
          <p:cNvSpPr/>
          <p:nvPr/>
        </p:nvSpPr>
        <p:spPr>
          <a:xfrm>
            <a:off x="665798" y="83633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Laws may require prosecution of gross negligence, even when internal processes support a Just Culture, creating fear of liability.</a:t>
            </a:r>
            <a:endParaRPr lang="en-US" sz="1329" dirty="0"/>
          </a:p>
        </p:txBody>
      </p:sp>
      <p:sp>
        <p:nvSpPr>
          <p:cNvPr id="6" name="Subtitle 2"/>
          <p:cNvSpPr/>
          <p:nvPr/>
        </p:nvSpPr>
        <p:spPr>
          <a:xfrm>
            <a:off x="665798" y="178883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9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Media and Public Pressure</a:t>
            </a:r>
            <a:endParaRPr lang="en-US" sz="1391" dirty="0"/>
          </a:p>
        </p:txBody>
      </p:sp>
      <p:sp>
        <p:nvSpPr>
          <p:cNvPr id="7" name="Paragraph 2"/>
          <p:cNvSpPr/>
          <p:nvPr/>
        </p:nvSpPr>
        <p:spPr>
          <a:xfrm>
            <a:off x="665798" y="216983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Media framing and societal demand for punishment can push organizations toward scapegoating rather than accountability.</a:t>
            </a:r>
            <a:endParaRPr lang="en-US" sz="1329" dirty="0"/>
          </a:p>
        </p:txBody>
      </p:sp>
      <p:sp>
        <p:nvSpPr>
          <p:cNvPr id="8" name="Subtitle 3"/>
          <p:cNvSpPr/>
          <p:nvPr/>
        </p:nvSpPr>
        <p:spPr>
          <a:xfrm>
            <a:off x="665798" y="288421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9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Cultural Misalignment</a:t>
            </a:r>
            <a:endParaRPr lang="en-US" sz="1391" dirty="0"/>
          </a:p>
        </p:txBody>
      </p:sp>
      <p:sp>
        <p:nvSpPr>
          <p:cNvPr id="9" name="Paragraph 3"/>
          <p:cNvSpPr/>
          <p:nvPr/>
        </p:nvSpPr>
        <p:spPr>
          <a:xfrm>
            <a:off x="665798" y="326521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Deep-seated beliefs in retributive justice conflict with Just Culture values, making the concept counterintuitive for many.</a:t>
            </a:r>
            <a:endParaRPr lang="en-US" sz="1329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7BCA9C-89B0-5BC5-8597-CB1F4FD0B5B2}"/>
              </a:ext>
            </a:extLst>
          </p:cNvPr>
          <p:cNvSpPr txBox="1"/>
          <p:nvPr/>
        </p:nvSpPr>
        <p:spPr>
          <a:xfrm>
            <a:off x="527209" y="4790274"/>
            <a:ext cx="5279010" cy="296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Sources: Shorrock, 2023; Geraghty, 2025; Essen et al.,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Why Just Culture Efforts Fail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665798" y="44590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4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Superficial Implementation</a:t>
            </a:r>
            <a:endParaRPr lang="en-US" sz="1247" dirty="0"/>
          </a:p>
        </p:txBody>
      </p:sp>
      <p:sp>
        <p:nvSpPr>
          <p:cNvPr id="5" name="Paragraph 1"/>
          <p:cNvSpPr/>
          <p:nvPr/>
        </p:nvSpPr>
        <p:spPr>
          <a:xfrm>
            <a:off x="665798" y="82690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Organizations often adopt tools like incident reporting or decision trees without addressing the underlying culture, rendering efforts ineffective.</a:t>
            </a:r>
            <a:endParaRPr lang="en-US" sz="1289" dirty="0"/>
          </a:p>
        </p:txBody>
      </p:sp>
      <p:sp>
        <p:nvSpPr>
          <p:cNvPr id="6" name="Subtitle 2"/>
          <p:cNvSpPr/>
          <p:nvPr/>
        </p:nvSpPr>
        <p:spPr>
          <a:xfrm>
            <a:off x="665798" y="177940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4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Missing Psychological Safety</a:t>
            </a:r>
            <a:endParaRPr lang="en-US" sz="1247" dirty="0"/>
          </a:p>
        </p:txBody>
      </p:sp>
      <p:sp>
        <p:nvSpPr>
          <p:cNvPr id="7" name="Paragraph 2"/>
          <p:cNvSpPr/>
          <p:nvPr/>
        </p:nvSpPr>
        <p:spPr>
          <a:xfrm>
            <a:off x="665798" y="216040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Without trust and safety, employees won’t engage with Just Culture initiatives, regardless of policies or frameworks in place.</a:t>
            </a:r>
            <a:endParaRPr lang="en-US" sz="1289" dirty="0"/>
          </a:p>
        </p:txBody>
      </p:sp>
      <p:sp>
        <p:nvSpPr>
          <p:cNvPr id="8" name="Subtitle 3"/>
          <p:cNvSpPr/>
          <p:nvPr/>
        </p:nvSpPr>
        <p:spPr>
          <a:xfrm>
            <a:off x="665798" y="2874783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4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Systemic Alignment Needed</a:t>
            </a:r>
            <a:endParaRPr lang="en-US" sz="1247" dirty="0"/>
          </a:p>
        </p:txBody>
      </p:sp>
      <p:sp>
        <p:nvSpPr>
          <p:cNvPr id="9" name="Paragraph 3"/>
          <p:cNvSpPr/>
          <p:nvPr/>
        </p:nvSpPr>
        <p:spPr>
          <a:xfrm>
            <a:off x="665798" y="3255783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Success requires consistent values, behaviors, and systems that reinforce restorative, learning-oriented responses to error.</a:t>
            </a:r>
            <a:endParaRPr lang="en-US" sz="1289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94C592-1A96-E057-C570-0254AB015615}"/>
              </a:ext>
            </a:extLst>
          </p:cNvPr>
          <p:cNvSpPr txBox="1"/>
          <p:nvPr/>
        </p:nvSpPr>
        <p:spPr>
          <a:xfrm>
            <a:off x="527209" y="4777297"/>
            <a:ext cx="5279010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8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Sources: Geraghty, 2025; Essen et al., 2024; </a:t>
            </a:r>
            <a:r>
              <a:rPr lang="en-US" sz="1289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Boskeljon</a:t>
            </a:r>
            <a:r>
              <a:rPr lang="en-US" sz="128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-Horst et al.,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0"/>
            <a:ext cx="76200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9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Barriers to Just Culture Implementation</a:t>
            </a:r>
            <a:endParaRPr lang="en-US" sz="2694" dirty="0"/>
          </a:p>
        </p:txBody>
      </p:sp>
      <p:pic>
        <p:nvPicPr>
          <p:cNvPr id="5" name="Picture 4" descr="A diagram of barriers to just culture&#10;&#10;AI-generated content may be incorrect.">
            <a:extLst>
              <a:ext uri="{FF2B5EF4-FFF2-40B4-BE49-F238E27FC236}">
                <a16:creationId xmlns:a16="http://schemas.microsoft.com/office/drawing/2014/main" id="{327F1212-EE2B-EBD0-B2E1-DB9B0A908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60104"/>
            <a:ext cx="7772400" cy="36724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Moving Forward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665798" y="45533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6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Building a Supportive Foundation</a:t>
            </a:r>
            <a:endParaRPr lang="en-US" sz="1266" dirty="0"/>
          </a:p>
        </p:txBody>
      </p:sp>
      <p:sp>
        <p:nvSpPr>
          <p:cNvPr id="5" name="Paragraph 1"/>
          <p:cNvSpPr/>
          <p:nvPr/>
        </p:nvSpPr>
        <p:spPr>
          <a:xfrm>
            <a:off x="665798" y="83633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Psychological safety must be prioritized to allow individuals to report and reflect without fear. It's the foundation for any successful Just Culture.</a:t>
            </a:r>
            <a:endParaRPr lang="en-US" sz="1258" dirty="0"/>
          </a:p>
        </p:txBody>
      </p:sp>
      <p:sp>
        <p:nvSpPr>
          <p:cNvPr id="6" name="Subtitle 2"/>
          <p:cNvSpPr/>
          <p:nvPr/>
        </p:nvSpPr>
        <p:spPr>
          <a:xfrm>
            <a:off x="665798" y="178883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6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Leadership and Learning</a:t>
            </a:r>
            <a:endParaRPr lang="en-US" sz="1266" dirty="0"/>
          </a:p>
        </p:txBody>
      </p:sp>
      <p:sp>
        <p:nvSpPr>
          <p:cNvPr id="7" name="Paragraph 2"/>
          <p:cNvSpPr/>
          <p:nvPr/>
        </p:nvSpPr>
        <p:spPr>
          <a:xfrm>
            <a:off x="665798" y="216983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All leadership levels must consistently model Just Culture principles, shifting focus from individual blame to collective learning.</a:t>
            </a:r>
            <a:endParaRPr lang="en-US" sz="1258" dirty="0"/>
          </a:p>
        </p:txBody>
      </p:sp>
      <p:sp>
        <p:nvSpPr>
          <p:cNvPr id="8" name="Subtitle 3"/>
          <p:cNvSpPr/>
          <p:nvPr/>
        </p:nvSpPr>
        <p:spPr>
          <a:xfrm>
            <a:off x="665798" y="288421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6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Restorative Integration</a:t>
            </a:r>
            <a:endParaRPr lang="en-US" sz="1266" dirty="0"/>
          </a:p>
        </p:txBody>
      </p:sp>
      <p:sp>
        <p:nvSpPr>
          <p:cNvPr id="9" name="Paragraph 3"/>
          <p:cNvSpPr/>
          <p:nvPr/>
        </p:nvSpPr>
        <p:spPr>
          <a:xfrm>
            <a:off x="665798" y="326521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Organizations should integrate restorative justice in investigations, shifting from 'who failed' to 'what can be learned and repaired.'</a:t>
            </a:r>
            <a:endParaRPr lang="en-US" sz="1258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54C0C-AF13-EBD6-90AC-92DBC10451CE}"/>
              </a:ext>
            </a:extLst>
          </p:cNvPr>
          <p:cNvSpPr txBox="1"/>
          <p:nvPr/>
        </p:nvSpPr>
        <p:spPr>
          <a:xfrm>
            <a:off x="527209" y="4795756"/>
            <a:ext cx="5279010" cy="285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Sources: </a:t>
            </a:r>
            <a:r>
              <a:rPr lang="en-US" sz="1258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Boskeljon</a:t>
            </a:r>
            <a:r>
              <a:rPr lang="en-US" sz="125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-Horst et al., 2024; Geraghty, 2025; Shorrock, 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-842581" y="437150"/>
            <a:ext cx="4014788" cy="4014788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285417" y="2160080"/>
            <a:ext cx="3467148" cy="823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62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Conclusion</a:t>
            </a:r>
            <a:endParaRPr lang="en-US" sz="4562" dirty="0"/>
          </a:p>
        </p:txBody>
      </p:sp>
      <p:sp>
        <p:nvSpPr>
          <p:cNvPr id="4" name="StaticPath"/>
          <p:cNvSpPr/>
          <p:nvPr/>
        </p:nvSpPr>
        <p:spPr>
          <a:xfrm>
            <a:off x="6677739" y="195072"/>
            <a:ext cx="911543" cy="911543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taticPath"/>
          <p:cNvSpPr/>
          <p:nvPr/>
        </p:nvSpPr>
        <p:spPr>
          <a:xfrm>
            <a:off x="7963376" y="4002548"/>
            <a:ext cx="677228" cy="677228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taticPath"/>
          <p:cNvSpPr/>
          <p:nvPr/>
        </p:nvSpPr>
        <p:spPr>
          <a:xfrm>
            <a:off x="-1162717" y="-991076"/>
            <a:ext cx="2514600" cy="2514600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Question topic"/>
          <p:cNvSpPr/>
          <p:nvPr/>
        </p:nvSpPr>
        <p:spPr>
          <a:xfrm>
            <a:off x="2950607" y="689991"/>
            <a:ext cx="2286000" cy="30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Final Takeaway</a:t>
            </a:r>
            <a:endParaRPr lang="en-US" sz="1655" dirty="0"/>
          </a:p>
        </p:txBody>
      </p:sp>
      <p:sp>
        <p:nvSpPr>
          <p:cNvPr id="8" name="Text"/>
          <p:cNvSpPr/>
          <p:nvPr/>
        </p:nvSpPr>
        <p:spPr>
          <a:xfrm>
            <a:off x="5193649" y="2192369"/>
            <a:ext cx="2810589" cy="1431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7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True adoption of a Just Culture requires a shift in mindset—away from blame and toward learning, empathy, and systemic accountability. With psychological safety, aligned leadership, and restorative values at its core, Just Culture becomes a sustainable path to resilience and improvement.</a:t>
            </a:r>
            <a:endParaRPr lang="en-US" sz="772" dirty="0"/>
          </a:p>
        </p:txBody>
      </p:sp>
      <p:sp>
        <p:nvSpPr>
          <p:cNvPr id="9" name="Question"/>
          <p:cNvSpPr/>
          <p:nvPr/>
        </p:nvSpPr>
        <p:spPr>
          <a:xfrm>
            <a:off x="5408343" y="1518428"/>
            <a:ext cx="2381250" cy="258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How can organizations truly embrace a Just Culture?</a:t>
            </a:r>
            <a:endParaRPr lang="en-US" sz="1002" dirty="0"/>
          </a:p>
        </p:txBody>
      </p:sp>
      <p:sp>
        <p:nvSpPr>
          <p:cNvPr id="10" name="StaticPath"/>
          <p:cNvSpPr/>
          <p:nvPr/>
        </p:nvSpPr>
        <p:spPr>
          <a:xfrm>
            <a:off x="2976229" y="323231"/>
            <a:ext cx="2128838" cy="1020128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1719" cy="2321719"/>
          </a:xfrm>
          <a:prstGeom prst="rect">
            <a:avLst/>
          </a:prstGeom>
        </p:spPr>
      </p:pic>
      <p:sp>
        <p:nvSpPr>
          <p:cNvPr id="3" name="StaticPath"/>
          <p:cNvSpPr/>
          <p:nvPr/>
        </p:nvSpPr>
        <p:spPr>
          <a:xfrm>
            <a:off x="1905000" y="1547813"/>
            <a:ext cx="428625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"/>
          <p:cNvSpPr/>
          <p:nvPr/>
        </p:nvSpPr>
        <p:spPr>
          <a:xfrm>
            <a:off x="2095500" y="2143125"/>
            <a:ext cx="3905250" cy="1227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Shorrock, S. (2023). *Why Is It Just So Difficult?* Barriers to Just Culture in the Real World. Humanistic Systems.</a:t>
            </a:r>
            <a:endParaRPr lang="en-US" sz="624" dirty="0"/>
          </a:p>
          <a:p>
            <a:pPr marL="0" indent="0" algn="l">
              <a:buNone/>
            </a:pPr>
            <a:r>
              <a:rPr lang="en-US" sz="62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🔗 https://humanisticsystems.com/2023/07/17/just-culture-barriers</a:t>
            </a:r>
            <a:endParaRPr lang="en-US" sz="624" dirty="0"/>
          </a:p>
          <a:p>
            <a:pPr marL="0" indent="0" algn="l">
              <a:buNone/>
            </a:pPr>
            <a:endParaRPr lang="en-US" sz="624" dirty="0"/>
          </a:p>
          <a:p>
            <a:pPr marL="0" indent="0" algn="l">
              <a:buNone/>
            </a:pPr>
            <a:r>
              <a:rPr lang="en-US" sz="62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Boskeljon-Horst, S., Steinmetz, B., &amp; Dekker, S. (2024). *Restorative Just Culture: An Exploration of the Enabling Conditions*.</a:t>
            </a:r>
            <a:endParaRPr lang="en-US" sz="624" dirty="0"/>
          </a:p>
          <a:p>
            <a:pPr marL="0" indent="0" algn="l">
              <a:buNone/>
            </a:pPr>
            <a:r>
              <a:rPr lang="en-US" sz="62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🔗 https://www.sciencedirect.com/science/article/abs/pii/S0925753524000031</a:t>
            </a:r>
            <a:endParaRPr lang="en-US" sz="624" dirty="0"/>
          </a:p>
          <a:p>
            <a:pPr marL="0" indent="0" algn="l">
              <a:buNone/>
            </a:pPr>
            <a:endParaRPr lang="en-US" sz="624" dirty="0"/>
          </a:p>
          <a:p>
            <a:pPr marL="0" indent="0" algn="l">
              <a:buNone/>
            </a:pPr>
            <a:r>
              <a:rPr lang="en-US" sz="62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Essen, A. et al. (2024). *Establishing a Just Culture: VHA Journey to High Reliability*.</a:t>
            </a:r>
            <a:endParaRPr lang="en-US" sz="624" dirty="0"/>
          </a:p>
          <a:p>
            <a:pPr marL="0" indent="0" algn="l">
              <a:buNone/>
            </a:pPr>
            <a:r>
              <a:rPr lang="en-US" sz="62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🔗 https://www.ncbi.nlm.nih.gov/pmc/articles/PMC10834736</a:t>
            </a:r>
            <a:endParaRPr lang="en-US" sz="624" dirty="0"/>
          </a:p>
          <a:p>
            <a:pPr marL="0" indent="0" algn="l">
              <a:buNone/>
            </a:pPr>
            <a:endParaRPr lang="en-US" sz="624" dirty="0"/>
          </a:p>
          <a:p>
            <a:pPr marL="0" indent="0" algn="l">
              <a:buNone/>
            </a:pPr>
            <a:r>
              <a:rPr lang="en-US" sz="62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Geraghty, T. (2025). *Just Culture*. PsychSafety.com.</a:t>
            </a:r>
            <a:endParaRPr lang="en-US" sz="624" dirty="0"/>
          </a:p>
          <a:p>
            <a:pPr marL="0" indent="0" algn="l">
              <a:buNone/>
            </a:pPr>
            <a:r>
              <a:rPr lang="en-US" sz="62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🔗 https://psychsafety.com/just-culture</a:t>
            </a:r>
            <a:endParaRPr lang="en-US" sz="624" dirty="0"/>
          </a:p>
        </p:txBody>
      </p:sp>
      <p:sp>
        <p:nvSpPr>
          <p:cNvPr id="5" name="Title"/>
          <p:cNvSpPr/>
          <p:nvPr/>
        </p:nvSpPr>
        <p:spPr>
          <a:xfrm>
            <a:off x="6349460" y="2089404"/>
            <a:ext cx="2427065" cy="322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68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📚 References</a:t>
            </a:r>
            <a:endParaRPr lang="en-US" sz="1468" dirty="0"/>
          </a:p>
        </p:txBody>
      </p:sp>
      <p:sp>
        <p:nvSpPr>
          <p:cNvPr id="6" name="Subtitle"/>
          <p:cNvSpPr/>
          <p:nvPr/>
        </p:nvSpPr>
        <p:spPr>
          <a:xfrm>
            <a:off x="6670929" y="2645092"/>
            <a:ext cx="1896809" cy="409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Sources Cited Throughout This Presentation</a:t>
            </a:r>
            <a:endParaRPr lang="en-US" sz="1156" dirty="0"/>
          </a:p>
        </p:txBody>
      </p:sp>
      <p:sp>
        <p:nvSpPr>
          <p:cNvPr id="7" name="StaticPath"/>
          <p:cNvSpPr/>
          <p:nvPr/>
        </p:nvSpPr>
        <p:spPr>
          <a:xfrm>
            <a:off x="5762625" y="3405188"/>
            <a:ext cx="428625" cy="42862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icPath"/>
          <p:cNvSpPr/>
          <p:nvPr/>
        </p:nvSpPr>
        <p:spPr>
          <a:xfrm>
            <a:off x="6349460" y="4058745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taticPath"/>
          <p:cNvSpPr/>
          <p:nvPr/>
        </p:nvSpPr>
        <p:spPr>
          <a:xfrm>
            <a:off x="6670929" y="4058650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941</Words>
  <Application>Microsoft Macintosh PowerPoint</Application>
  <PresentationFormat>On-screen Show (16:9)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OpenSans-Bold</vt:lpstr>
      <vt:lpstr>OpenSans-Regular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nima memarzadeh</cp:lastModifiedBy>
  <cp:revision>4</cp:revision>
  <dcterms:created xsi:type="dcterms:W3CDTF">2025-07-08T16:20:29Z</dcterms:created>
  <dcterms:modified xsi:type="dcterms:W3CDTF">2025-07-08T16:30:44Z</dcterms:modified>
</cp:coreProperties>
</file>